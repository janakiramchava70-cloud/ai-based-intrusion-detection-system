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38" r:id="rId1"/>
  </p:sldMasterIdLst>
  <p:notesMasterIdLst>
    <p:notesMasterId r:id="rId26"/>
  </p:notesMasterIdLst>
  <p:sldIdLst>
    <p:sldId id="256" r:id="rId2"/>
    <p:sldId id="257" r:id="rId3"/>
    <p:sldId id="258" r:id="rId4"/>
    <p:sldId id="259" r:id="rId5"/>
    <p:sldId id="261" r:id="rId6"/>
    <p:sldId id="281" r:id="rId7"/>
    <p:sldId id="262" r:id="rId8"/>
    <p:sldId id="263" r:id="rId9"/>
    <p:sldId id="283" r:id="rId10"/>
    <p:sldId id="268" r:id="rId11"/>
    <p:sldId id="282" r:id="rId12"/>
    <p:sldId id="265" r:id="rId13"/>
    <p:sldId id="266" r:id="rId14"/>
    <p:sldId id="264" r:id="rId15"/>
    <p:sldId id="272" r:id="rId16"/>
    <p:sldId id="269" r:id="rId17"/>
    <p:sldId id="270" r:id="rId18"/>
    <p:sldId id="274" r:id="rId19"/>
    <p:sldId id="273" r:id="rId20"/>
    <p:sldId id="271" r:id="rId21"/>
    <p:sldId id="276" r:id="rId22"/>
    <p:sldId id="278" r:id="rId23"/>
    <p:sldId id="280" r:id="rId24"/>
    <p:sldId id="279" r:id="rId25"/>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0"/>
  </p:normalViewPr>
  <p:slideViewPr>
    <p:cSldViewPr snapToGrid="0">
      <p:cViewPr varScale="1">
        <p:scale>
          <a:sx n="60" d="100"/>
          <a:sy n="6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p:spPr>
        <p:txBody>
          <a:bodyPr anchor="b"/>
          <a:lstStyle>
            <a:lvl1pPr algn="ctr">
              <a:defRPr sz="12000"/>
            </a:lvl1pPr>
          </a:lstStyle>
          <a:p>
            <a:r>
              <a:rPr lang="en-GB"/>
              <a:t>Click to edit Master title style</a:t>
            </a:r>
            <a:endParaRPr lang="en-US" dirty="0"/>
          </a:p>
        </p:txBody>
      </p:sp>
      <p:sp>
        <p:nvSpPr>
          <p:cNvPr id="3" name="Subtitle 2"/>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8AA31720-900A-044D-9E9A-4678E521EDE2}" type="datetimeFigureOut">
              <a:rPr lang="en-US" smtClean="0"/>
              <a:t>4/6/24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565155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AA31720-900A-044D-9E9A-4678E521EDE2}" type="datetimeFigureOut">
              <a:rPr lang="en-US" smtClean="0"/>
              <a:t>4/6/24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148858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p:spPr>
        <p:txBody>
          <a:bodyPr anchor="b"/>
          <a:lstStyle>
            <a:lvl1pPr>
              <a:defRPr sz="12000"/>
            </a:lvl1pPr>
          </a:lstStyle>
          <a:p>
            <a:r>
              <a:rPr lang="en-GB"/>
              <a:t>Click to edit Master title style</a:t>
            </a:r>
            <a:endParaRPr lang="en-US" dirty="0"/>
          </a:p>
        </p:txBody>
      </p:sp>
      <p:sp>
        <p:nvSpPr>
          <p:cNvPr id="3" name="Text Placeholder 2"/>
          <p:cNvSpPr>
            <a:spLocks noGrp="1"/>
          </p:cNvSpPr>
          <p:nvPr>
            <p:ph type="body" idx="1"/>
          </p:nvPr>
        </p:nvSpPr>
        <p:spPr>
          <a:xfrm>
            <a:off x="1663700" y="9178927"/>
            <a:ext cx="21031200"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AA31720-900A-044D-9E9A-4678E521EDE2}" type="datetimeFigureOut">
              <a:rPr lang="en-US" smtClean="0"/>
              <a:t>4/6/24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06392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676400" y="3651250"/>
            <a:ext cx="10363200"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2344400" y="3651250"/>
            <a:ext cx="10363200"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AA31720-900A-044D-9E9A-4678E521EDE2}" type="datetimeFigureOut">
              <a:rPr lang="en-US" smtClean="0"/>
              <a:t>4/6/24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60265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4" name="Content Placeholder 3"/>
          <p:cNvSpPr>
            <a:spLocks noGrp="1"/>
          </p:cNvSpPr>
          <p:nvPr>
            <p:ph sz="half" idx="2"/>
          </p:nvPr>
        </p:nvSpPr>
        <p:spPr>
          <a:xfrm>
            <a:off x="1679577" y="5010150"/>
            <a:ext cx="10315574"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6" name="Content Placeholder 5"/>
          <p:cNvSpPr>
            <a:spLocks noGrp="1"/>
          </p:cNvSpPr>
          <p:nvPr>
            <p:ph sz="quarter" idx="4"/>
          </p:nvPr>
        </p:nvSpPr>
        <p:spPr>
          <a:xfrm>
            <a:off x="12344400" y="5010150"/>
            <a:ext cx="10366376"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AA31720-900A-044D-9E9A-4678E521EDE2}" type="datetimeFigureOut">
              <a:rPr lang="en-US" smtClean="0"/>
              <a:t>4/6/24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207609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AA31720-900A-044D-9E9A-4678E521EDE2}" type="datetimeFigureOut">
              <a:rPr lang="en-US" smtClean="0"/>
              <a:t>4/6/24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936580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A31720-900A-044D-9E9A-4678E521EDE2}" type="datetimeFigureOut">
              <a:rPr lang="en-US" smtClean="0"/>
              <a:t>4/6/24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238416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p:spPr>
        <p:txBody>
          <a:bodyPr anchor="b"/>
          <a:lstStyle>
            <a:lvl1pPr>
              <a:defRPr sz="6400"/>
            </a:lvl1pPr>
          </a:lstStyle>
          <a:p>
            <a:r>
              <a:rPr lang="en-GB"/>
              <a:t>Click to edit Master title style</a:t>
            </a:r>
            <a:endParaRPr lang="en-US" dirty="0"/>
          </a:p>
        </p:txBody>
      </p:sp>
      <p:sp>
        <p:nvSpPr>
          <p:cNvPr id="3" name="Content Placeholder 2"/>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8AA31720-900A-044D-9E9A-4678E521EDE2}" type="datetimeFigureOut">
              <a:rPr lang="en-US" smtClean="0"/>
              <a:t>4/6/24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616964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p:spPr>
        <p:txBody>
          <a:bodyPr anchor="b"/>
          <a:lstStyle>
            <a:lvl1pPr>
              <a:defRPr sz="6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366376" y="1974851"/>
            <a:ext cx="12344400"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GB"/>
              <a:t>Click icon to add picture</a:t>
            </a:r>
            <a:endParaRPr lang="en-US" dirty="0"/>
          </a:p>
        </p:txBody>
      </p:sp>
      <p:sp>
        <p:nvSpPr>
          <p:cNvPr id="4" name="Text Placeholder 3"/>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8AA31720-900A-044D-9E9A-4678E521EDE2}" type="datetimeFigureOut">
              <a:rPr lang="en-US" smtClean="0"/>
              <a:t>4/6/24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570749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AA31720-900A-044D-9E9A-4678E521EDE2}" type="datetimeFigureOut">
              <a:rPr lang="en-US" smtClean="0"/>
              <a:t>4/6/24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0959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6400" y="730250"/>
            <a:ext cx="15468600" cy="1162367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AA31720-900A-044D-9E9A-4678E521EDE2}" type="datetimeFigureOut">
              <a:rPr lang="en-US" smtClean="0"/>
              <a:t>4/6/24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982023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lnSpc>
                <a:spcPct val="100000"/>
              </a:lnSpc>
              <a:spcBef>
                <a:spcPts val="0"/>
              </a:spcBef>
              <a:buSzTx/>
              <a:buNone/>
              <a:defRPr sz="3600" b="1"/>
            </a:lvl1pPr>
          </a:lstStyle>
          <a:p>
            <a:r>
              <a:t>Author and Date</a:t>
            </a:r>
          </a:p>
        </p:txBody>
      </p:sp>
      <p:sp>
        <p:nvSpPr>
          <p:cNvPr id="12" name="Presentation Title"/>
          <p:cNvSpPr txBox="1">
            <a:spLocks noGrp="1"/>
          </p:cNvSpPr>
          <p:nvPr>
            <p:ph type="title" hasCustomPrompt="1"/>
          </p:nvPr>
        </p:nvSpPr>
        <p:spPr>
          <a:xfrm>
            <a:off x="1206496" y="2574991"/>
            <a:ext cx="21971004" cy="4648201"/>
          </a:xfrm>
          <a:prstGeom prst="rect">
            <a:avLst/>
          </a:prstGeom>
        </p:spPr>
        <p:txBody>
          <a:bodyPr anchor="b"/>
          <a:lstStyle>
            <a:lvl1pPr>
              <a:defRPr sz="11600" spc="-232"/>
            </a:lvl1pPr>
          </a:lstStyle>
          <a:p>
            <a:r>
              <a:t>Presentation Title</a:t>
            </a:r>
          </a:p>
        </p:txBody>
      </p:sp>
      <p:sp>
        <p:nvSpPr>
          <p:cNvPr id="13" name="Body Level One…"/>
          <p:cNvSpPr txBox="1">
            <a:spLocks noGrp="1"/>
          </p:cNvSpPr>
          <p:nvPr>
            <p:ph type="body" sz="quarter" idx="1" hasCustomPrompt="1"/>
          </p:nvPr>
        </p:nvSpPr>
        <p:spPr>
          <a:xfrm>
            <a:off x="1206500" y="7196865"/>
            <a:ext cx="21971000" cy="1905001"/>
          </a:xfrm>
          <a:prstGeom prst="rect">
            <a:avLst/>
          </a:prstGeom>
        </p:spPr>
        <p:txBody>
          <a:bodyPr/>
          <a:lstStyle>
            <a:lvl1pPr marL="0" indent="0" defTabSz="825500">
              <a:lnSpc>
                <a:spcPct val="100000"/>
              </a:lnSpc>
              <a:spcBef>
                <a:spcPts val="0"/>
              </a:spcBef>
              <a:buSzTx/>
              <a:buNone/>
              <a:defRPr sz="5500" b="1"/>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2007748" y="13080999"/>
            <a:ext cx="368504" cy="374600"/>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4617626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t>Slide Title</a:t>
            </a:r>
          </a:p>
        </p:txBody>
      </p:sp>
      <p:sp>
        <p:nvSpPr>
          <p:cNvPr id="43" name="Slide Subtitle"/>
          <p:cNvSpPr txBox="1">
            <a:spLocks noGrp="1"/>
          </p:cNvSpPr>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47091903"/>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waterfall surrounded by a green rocky landscape"/>
          <p:cNvSpPr>
            <a:spLocks noGrp="1"/>
          </p:cNvSpPr>
          <p:nvPr>
            <p:ph type="pic" idx="21"/>
          </p:nvPr>
        </p:nvSpPr>
        <p:spPr>
          <a:xfrm>
            <a:off x="-1511300" y="-3721100"/>
            <a:ext cx="28511500" cy="19030242"/>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719735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Slide Title"/>
          <p:cNvSpPr txBox="1">
            <a:spLocks noGrp="1"/>
          </p:cNvSpPr>
          <p:nvPr>
            <p:ph type="title" hasCustomPrompt="1"/>
          </p:nvPr>
        </p:nvSpPr>
        <p:spPr>
          <a:xfrm>
            <a:off x="1206500" y="952500"/>
            <a:ext cx="9779000" cy="1435100"/>
          </a:xfrm>
          <a:prstGeom prst="rect">
            <a:avLst/>
          </a:prstGeom>
        </p:spPr>
        <p:txBody>
          <a:bodyPr/>
          <a:lstStyle/>
          <a:p>
            <a:r>
              <a:t>Slide Title</a:t>
            </a:r>
          </a:p>
        </p:txBody>
      </p:sp>
      <p:sp>
        <p:nvSpPr>
          <p:cNvPr id="61" name="Slide Subtitle"/>
          <p:cNvSpPr txBox="1">
            <a:spLocks noGrp="1"/>
          </p:cNvSpPr>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62" name="Body Level One…"/>
          <p:cNvSpPr txBox="1">
            <a:spLocks noGrp="1"/>
          </p:cNvSpPr>
          <p:nvPr>
            <p:ph type="body" sz="half" idx="1" hasCustomPrompt="1"/>
          </p:nvPr>
        </p:nvSpPr>
        <p:spPr>
          <a:xfrm>
            <a:off x="1206500" y="4248504"/>
            <a:ext cx="9779000" cy="8256012"/>
          </a:xfrm>
          <a:prstGeom prst="rect">
            <a:avLst/>
          </a:prstGeom>
        </p:spPr>
        <p:txBody>
          <a:bodyPr/>
          <a:lstStyle/>
          <a:p>
            <a:r>
              <a:t>Slide bullet text</a:t>
            </a:r>
          </a:p>
          <a:p>
            <a:pPr lvl="1"/>
            <a:endParaRPr/>
          </a:p>
          <a:p>
            <a:pPr lvl="2"/>
            <a:endParaRPr/>
          </a:p>
          <a:p>
            <a:pPr lvl="3"/>
            <a:endParaRPr/>
          </a:p>
          <a:p>
            <a:pPr lvl="4"/>
            <a:endParaRPr/>
          </a:p>
        </p:txBody>
      </p:sp>
      <p:sp>
        <p:nvSpPr>
          <p:cNvPr id="63" name="Large rock formation under dark clouds with a dirt road in the foreground"/>
          <p:cNvSpPr>
            <a:spLocks noGrp="1"/>
          </p:cNvSpPr>
          <p:nvPr>
            <p:ph type="pic" idx="22"/>
          </p:nvPr>
        </p:nvSpPr>
        <p:spPr>
          <a:xfrm>
            <a:off x="6380200" y="1263848"/>
            <a:ext cx="22529801" cy="11193471"/>
          </a:xfrm>
          <a:prstGeom prst="rect">
            <a:avLst/>
          </a:prstGeom>
        </p:spPr>
        <p:txBody>
          <a:bodyPr lIns="91439" tIns="45719" rIns="91439" bIns="45719">
            <a:noAutofit/>
          </a:bodyPr>
          <a:lstStyle/>
          <a:p>
            <a:endParaRP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72977216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8AA31720-900A-044D-9E9A-4678E521EDE2}" type="datetimeFigureOut">
              <a:rPr lang="en-US" smtClean="0"/>
              <a:t>4/6/24</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86CB4B4D-7CA3-9044-876B-883B54F8677D}" type="slidenum">
              <a:rPr lang="en-IN" smtClean="0"/>
              <a:t>‹#›</a:t>
            </a:fld>
            <a:endParaRPr lang="en-IN"/>
          </a:p>
        </p:txBody>
      </p:sp>
    </p:spTree>
    <p:extLst>
      <p:ext uri="{BB962C8B-B14F-4D97-AF65-F5344CB8AC3E}">
        <p14:creationId xmlns:p14="http://schemas.microsoft.com/office/powerpoint/2010/main" val="2155384402"/>
      </p:ext>
    </p:extLst>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 id="2147483948" r:id="rId10"/>
    <p:sldLayoutId id="2147483949" r:id="rId11"/>
    <p:sldLayoutId id="2147483950" r:id="rId12"/>
    <p:sldLayoutId id="2147483951" r:id="rId13"/>
    <p:sldLayoutId id="2147483952" r:id="rId14"/>
    <p:sldLayoutId id="2147483953" r:id="rId15"/>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Network Intrusion Detection System using Deep Learning"/>
          <p:cNvSpPr txBox="1">
            <a:spLocks noGrp="1"/>
          </p:cNvSpPr>
          <p:nvPr>
            <p:ph type="title"/>
          </p:nvPr>
        </p:nvSpPr>
        <p:spPr>
          <a:xfrm>
            <a:off x="454024" y="2670831"/>
            <a:ext cx="23475951" cy="3182879"/>
          </a:xfrm>
          <a:prstGeom prst="rect">
            <a:avLst/>
          </a:prstGeom>
        </p:spPr>
        <p:txBody>
          <a:bodyPr>
            <a:normAutofit fontScale="90000"/>
          </a:bodyPr>
          <a:lstStyle/>
          <a:p>
            <a:r>
              <a:rPr dirty="0">
                <a:latin typeface="Arial" panose="020B0604020202020204" pitchFamily="34" charset="0"/>
                <a:cs typeface="Arial" panose="020B0604020202020204" pitchFamily="34" charset="0"/>
              </a:rPr>
              <a:t>Network Intrusion Detection System using Deep Learning</a:t>
            </a:r>
          </a:p>
        </p:txBody>
      </p:sp>
      <p:sp>
        <p:nvSpPr>
          <p:cNvPr id="172" name="Project Domain:  Embedded Systems and IOT…"/>
          <p:cNvSpPr txBox="1">
            <a:spLocks noGrp="1"/>
          </p:cNvSpPr>
          <p:nvPr>
            <p:ph type="body" sz="quarter" idx="1"/>
          </p:nvPr>
        </p:nvSpPr>
        <p:spPr>
          <a:xfrm>
            <a:off x="1206500" y="5867953"/>
            <a:ext cx="21971000" cy="6319239"/>
          </a:xfrm>
          <a:prstGeom prst="rect">
            <a:avLst/>
          </a:prstGeom>
        </p:spPr>
        <p:txBody>
          <a:bodyPr/>
          <a:lstStyle/>
          <a:p>
            <a:pPr algn="just">
              <a:defRPr sz="3000"/>
            </a:pPr>
            <a:endParaRPr lang="en-US" dirty="0"/>
          </a:p>
          <a:p>
            <a:pPr algn="just">
              <a:defRPr sz="3000"/>
            </a:pPr>
            <a:endParaRPr dirty="0"/>
          </a:p>
          <a:p>
            <a:pPr algn="just">
              <a:defRPr sz="3000"/>
            </a:pPr>
            <a:endParaRPr dirty="0"/>
          </a:p>
          <a:p>
            <a:pPr algn="just">
              <a:defRPr sz="3000"/>
            </a:pPr>
            <a:endParaRPr dirty="0"/>
          </a:p>
          <a:p>
            <a:pPr algn="just">
              <a:defRPr sz="3000"/>
            </a:pPr>
            <a:endParaRPr dirty="0"/>
          </a:p>
          <a:p>
            <a:pPr algn="just">
              <a:defRPr sz="3000"/>
            </a:pPr>
            <a:endParaRPr dirty="0"/>
          </a:p>
          <a:p>
            <a:pPr algn="just">
              <a:defRPr sz="3000"/>
            </a:pPr>
            <a:endParaRPr lang="en-US" dirty="0"/>
          </a:p>
          <a:p>
            <a:pPr algn="just">
              <a:defRPr sz="3000"/>
            </a:pPr>
            <a:endParaRPr dirty="0"/>
          </a:p>
          <a:p>
            <a:pPr algn="just">
              <a:defRPr sz="3000"/>
            </a:pPr>
            <a:endParaRPr dirty="0"/>
          </a:p>
          <a:p>
            <a:pPr algn="just">
              <a:defRPr sz="3000"/>
            </a:pPr>
            <a:r>
              <a:rPr dirty="0" err="1">
                <a:latin typeface="Helvetica" pitchFamily="2" charset="0"/>
              </a:rPr>
              <a:t>C.Janaki</a:t>
            </a:r>
            <a:r>
              <a:rPr dirty="0">
                <a:latin typeface="Helvetica" pitchFamily="2" charset="0"/>
              </a:rPr>
              <a:t> Ram                </a:t>
            </a:r>
            <a:r>
              <a:rPr lang="en-US" dirty="0">
                <a:latin typeface="Helvetica" pitchFamily="2" charset="0"/>
              </a:rPr>
              <a:t> 	</a:t>
            </a:r>
            <a:r>
              <a:rPr dirty="0">
                <a:latin typeface="Helvetica" pitchFamily="2" charset="0"/>
              </a:rPr>
              <a:t>20071A0426</a:t>
            </a:r>
          </a:p>
          <a:p>
            <a:pPr algn="just">
              <a:defRPr sz="3000"/>
            </a:pPr>
            <a:r>
              <a:rPr dirty="0" err="1">
                <a:latin typeface="Helvetica" pitchFamily="2" charset="0"/>
              </a:rPr>
              <a:t>K.Karthik</a:t>
            </a:r>
            <a:r>
              <a:rPr dirty="0">
                <a:latin typeface="Helvetica" pitchFamily="2" charset="0"/>
              </a:rPr>
              <a:t>                       </a:t>
            </a:r>
            <a:r>
              <a:rPr lang="en-US" dirty="0">
                <a:latin typeface="Helvetica" pitchFamily="2" charset="0"/>
              </a:rPr>
              <a:t>	</a:t>
            </a:r>
            <a:r>
              <a:rPr dirty="0">
                <a:latin typeface="Helvetica" pitchFamily="2" charset="0"/>
              </a:rPr>
              <a:t>20071A0433</a:t>
            </a:r>
          </a:p>
          <a:p>
            <a:pPr algn="just">
              <a:defRPr sz="3000"/>
            </a:pPr>
            <a:r>
              <a:rPr dirty="0" err="1">
                <a:latin typeface="Helvetica" pitchFamily="2" charset="0"/>
              </a:rPr>
              <a:t>V.Anemesh</a:t>
            </a:r>
            <a:r>
              <a:rPr dirty="0">
                <a:latin typeface="Helvetica" pitchFamily="2" charset="0"/>
              </a:rPr>
              <a:t> </a:t>
            </a:r>
            <a:r>
              <a:rPr lang="en-US" dirty="0">
                <a:latin typeface="Helvetica" pitchFamily="2" charset="0"/>
              </a:rPr>
              <a:t>C</a:t>
            </a:r>
            <a:r>
              <a:rPr dirty="0">
                <a:latin typeface="Helvetica" pitchFamily="2" charset="0"/>
              </a:rPr>
              <a:t>handra     </a:t>
            </a:r>
            <a:r>
              <a:rPr lang="en-US" dirty="0">
                <a:latin typeface="Helvetica" pitchFamily="2" charset="0"/>
              </a:rPr>
              <a:t>	</a:t>
            </a:r>
            <a:r>
              <a:rPr dirty="0">
                <a:latin typeface="Helvetica" pitchFamily="2" charset="0"/>
              </a:rPr>
              <a:t>20071A0457</a:t>
            </a:r>
          </a:p>
        </p:txBody>
      </p:sp>
      <p:sp>
        <p:nvSpPr>
          <p:cNvPr id="173" name="Project Mentor:  G. Sahitya"/>
          <p:cNvSpPr txBox="1"/>
          <p:nvPr/>
        </p:nvSpPr>
        <p:spPr>
          <a:xfrm>
            <a:off x="1230546" y="9022346"/>
            <a:ext cx="19310000" cy="9318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Autofit/>
          </a:bodyPr>
          <a:lstStyle>
            <a:lvl1pPr defTabSz="825500">
              <a:lnSpc>
                <a:spcPct val="100000"/>
              </a:lnSpc>
              <a:spcBef>
                <a:spcPts val="0"/>
              </a:spcBef>
              <a:defRPr sz="3600" b="1"/>
            </a:lvl1pPr>
          </a:lstStyle>
          <a:p>
            <a:r>
              <a:rPr sz="3000" dirty="0">
                <a:latin typeface="Helvetica" pitchFamily="2" charset="0"/>
              </a:rPr>
              <a:t>Project Mentor:  G. Sahitya</a:t>
            </a:r>
            <a:r>
              <a:rPr lang="en-US" sz="3000" dirty="0">
                <a:latin typeface="Helvetica" pitchFamily="2" charset="0"/>
              </a:rPr>
              <a:t>, </a:t>
            </a:r>
            <a:r>
              <a:rPr lang="en-IN" sz="3000" dirty="0">
                <a:latin typeface="Helvetica" pitchFamily="2" charset="0"/>
              </a:rPr>
              <a:t>Assistant Professor, Dept. of ECE</a:t>
            </a:r>
            <a:endParaRPr sz="3000" dirty="0">
              <a:latin typeface="Helvetica" pitchFamily="2"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Introduction"/>
          <p:cNvSpPr txBox="1">
            <a:spLocks noGrp="1"/>
          </p:cNvSpPr>
          <p:nvPr>
            <p:ph type="title"/>
          </p:nvPr>
        </p:nvSpPr>
        <p:spPr>
          <a:xfrm>
            <a:off x="941979" y="948957"/>
            <a:ext cx="21971001" cy="1433164"/>
          </a:xfrm>
          <a:prstGeom prst="rect">
            <a:avLst/>
          </a:prstGeom>
        </p:spPr>
        <p:txBody>
          <a:bodyPr>
            <a:normAutofit/>
          </a:bodyPr>
          <a:lstStyle/>
          <a:p>
            <a:r>
              <a:rPr b="1" dirty="0">
                <a:latin typeface="Helvetica" pitchFamily="2" charset="0"/>
              </a:rPr>
              <a:t>Introduction</a:t>
            </a:r>
          </a:p>
        </p:txBody>
      </p:sp>
      <p:sp>
        <p:nvSpPr>
          <p:cNvPr id="176" name="Network Intrusion Detection System…"/>
          <p:cNvSpPr txBox="1">
            <a:spLocks noGrp="1"/>
          </p:cNvSpPr>
          <p:nvPr>
            <p:ph type="body" idx="1"/>
          </p:nvPr>
        </p:nvSpPr>
        <p:spPr>
          <a:xfrm>
            <a:off x="941979" y="3070185"/>
            <a:ext cx="21971001" cy="8256011"/>
          </a:xfrm>
          <a:prstGeom prst="rect">
            <a:avLst/>
          </a:prstGeom>
        </p:spPr>
        <p:txBody>
          <a:bodyPr>
            <a:normAutofit/>
          </a:bodyPr>
          <a:lstStyle/>
          <a:p>
            <a:pPr marL="0" indent="0">
              <a:lnSpc>
                <a:spcPct val="80000"/>
              </a:lnSpc>
              <a:spcBef>
                <a:spcPts val="0"/>
              </a:spcBef>
              <a:buSzTx/>
              <a:buNone/>
              <a:defRPr sz="6000" b="1" spc="-119"/>
            </a:pPr>
            <a:r>
              <a:rPr sz="6000" dirty="0">
                <a:latin typeface="Helvetica" pitchFamily="2" charset="0"/>
              </a:rPr>
              <a:t>Network Intrusion Detection System</a:t>
            </a:r>
          </a:p>
          <a:p>
            <a:pPr algn="just">
              <a:defRPr>
                <a:latin typeface="Arial"/>
                <a:ea typeface="Arial"/>
                <a:cs typeface="Arial"/>
                <a:sym typeface="Arial"/>
              </a:defRPr>
            </a:pPr>
            <a:r>
              <a:rPr sz="6000" dirty="0">
                <a:latin typeface="Helvetica" pitchFamily="2" charset="0"/>
              </a:rPr>
              <a:t>A Network Intrusion Detection System (NIDS) is a</a:t>
            </a:r>
            <a:r>
              <a:rPr lang="en-US" sz="6000" dirty="0">
                <a:latin typeface="Helvetica" pitchFamily="2" charset="0"/>
              </a:rPr>
              <a:t>n</a:t>
            </a:r>
            <a:r>
              <a:rPr sz="6000" dirty="0">
                <a:latin typeface="Helvetica" pitchFamily="2" charset="0"/>
              </a:rPr>
              <a:t> application that can detect and report network security problems by monitoring network or system activities for malicious or anomalous behavior.</a:t>
            </a:r>
          </a:p>
          <a:p>
            <a:pPr algn="just"/>
            <a:r>
              <a:rPr sz="6000" dirty="0">
                <a:latin typeface="Helvetica" pitchFamily="2" charset="0"/>
              </a:rPr>
              <a:t>NIDS works by examining a variety of data points from different sources within the network.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ypes of Attacks"/>
          <p:cNvSpPr txBox="1">
            <a:spLocks noGrp="1"/>
          </p:cNvSpPr>
          <p:nvPr>
            <p:ph type="title"/>
          </p:nvPr>
        </p:nvSpPr>
        <p:spPr>
          <a:xfrm>
            <a:off x="1014121" y="351109"/>
            <a:ext cx="21031200" cy="2651126"/>
          </a:xfrm>
          <a:prstGeom prst="rect">
            <a:avLst/>
          </a:prstGeom>
        </p:spPr>
        <p:txBody>
          <a:bodyPr/>
          <a:lstStyle/>
          <a:p>
            <a:r>
              <a:rPr b="1" dirty="0">
                <a:latin typeface="Helvetica" pitchFamily="2" charset="0"/>
              </a:rPr>
              <a:t>Types of Attacks</a:t>
            </a:r>
          </a:p>
        </p:txBody>
      </p:sp>
      <p:sp>
        <p:nvSpPr>
          <p:cNvPr id="179" name="Denial Of Service (DoS): This type of attack aims to make a machine or network resource unavailable to its intended users by temporarily or indefinitely disrupting services of a host connected to the Internet.…"/>
          <p:cNvSpPr txBox="1">
            <a:spLocks noGrp="1"/>
          </p:cNvSpPr>
          <p:nvPr>
            <p:ph type="body" idx="1"/>
          </p:nvPr>
        </p:nvSpPr>
        <p:spPr>
          <a:xfrm>
            <a:off x="1014121" y="2729993"/>
            <a:ext cx="22804884" cy="10634897"/>
          </a:xfrm>
          <a:prstGeom prst="rect">
            <a:avLst/>
          </a:prstGeom>
        </p:spPr>
        <p:txBody>
          <a:bodyPr>
            <a:noAutofit/>
          </a:bodyPr>
          <a:lstStyle/>
          <a:p>
            <a:pPr marL="505968" indent="-505968" algn="just" defTabSz="2023821">
              <a:spcBef>
                <a:spcPts val="3700"/>
              </a:spcBef>
              <a:defRPr sz="3984"/>
            </a:pPr>
            <a:r>
              <a:rPr sz="5000" b="1" dirty="0">
                <a:latin typeface="Helvetica" pitchFamily="2" charset="0"/>
              </a:rPr>
              <a:t>Denial Of Service (DoS):</a:t>
            </a:r>
            <a:r>
              <a:rPr sz="5000" dirty="0">
                <a:latin typeface="Helvetica" pitchFamily="2" charset="0"/>
              </a:rPr>
              <a:t> This type of attack aims to make a machine or network resource unavailable to its intended users by temporarily or indefinitely disrupting services of a host connected to the Internet.</a:t>
            </a:r>
          </a:p>
          <a:p>
            <a:pPr marL="505968" indent="-505968" algn="just" defTabSz="2023821">
              <a:spcBef>
                <a:spcPts val="3700"/>
              </a:spcBef>
              <a:defRPr sz="3984"/>
            </a:pPr>
            <a:r>
              <a:rPr sz="5000" b="1" dirty="0">
                <a:latin typeface="Helvetica" pitchFamily="2" charset="0"/>
              </a:rPr>
              <a:t>Probe: </a:t>
            </a:r>
            <a:r>
              <a:rPr sz="5000" dirty="0">
                <a:latin typeface="Helvetica" pitchFamily="2" charset="0"/>
              </a:rPr>
              <a:t>Probing is an attack in which the attacker scans a machine or a networking device to determine weaknesses or vulnerabilities that may later be exploited to compromise the system.</a:t>
            </a:r>
          </a:p>
          <a:p>
            <a:pPr marL="505968" indent="-505968" algn="just" defTabSz="2023821">
              <a:spcBef>
                <a:spcPts val="3700"/>
              </a:spcBef>
              <a:defRPr sz="3984"/>
            </a:pPr>
            <a:r>
              <a:rPr sz="5000" b="1" dirty="0">
                <a:latin typeface="Helvetica" pitchFamily="2" charset="0"/>
              </a:rPr>
              <a:t>User to Root (U2R):</a:t>
            </a:r>
            <a:r>
              <a:rPr sz="5000" dirty="0">
                <a:latin typeface="Helvetica" pitchFamily="2" charset="0"/>
              </a:rPr>
              <a:t> These attacks are exploitations in which the attacker starts off on the system with a normal user account and attempts to abuse vulnerabilities in the system in order to gain super user privileges.</a:t>
            </a:r>
            <a:endParaRPr sz="5000" b="1" dirty="0">
              <a:latin typeface="Helvetica" pitchFamily="2" charset="0"/>
            </a:endParaRPr>
          </a:p>
          <a:p>
            <a:pPr marL="505968" indent="-505968" algn="just" defTabSz="2023821">
              <a:spcBef>
                <a:spcPts val="3700"/>
              </a:spcBef>
              <a:defRPr sz="3984" b="1"/>
            </a:pPr>
            <a:r>
              <a:rPr sz="5000" dirty="0">
                <a:latin typeface="Helvetica" pitchFamily="2" charset="0"/>
              </a:rPr>
              <a:t>Remote to Local (R2L): </a:t>
            </a:r>
            <a:r>
              <a:rPr sz="5000" b="0" dirty="0">
                <a:latin typeface="Helvetica" pitchFamily="2" charset="0"/>
              </a:rPr>
              <a:t>A remote to user attack is an attack in which a user sends packets to a machine over the internet, which they do not have access to, in order to expose the machine’s vulnerabilities and exploit privileges which a local user would have on the computer</a:t>
            </a:r>
            <a:r>
              <a:rPr lang="en-US" sz="5000" b="0" dirty="0">
                <a:latin typeface="Helvetica" pitchFamily="2" charset="0"/>
              </a:rPr>
              <a:t>.</a:t>
            </a:r>
            <a:endParaRPr sz="5000" b="0" dirty="0">
              <a:latin typeface="Helvetica" pitchFamily="2" charset="0"/>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 name="Motivation"/>
          <p:cNvSpPr txBox="1">
            <a:spLocks noGrp="1"/>
          </p:cNvSpPr>
          <p:nvPr>
            <p:ph type="title"/>
          </p:nvPr>
        </p:nvSpPr>
        <p:spPr>
          <a:xfrm>
            <a:off x="1373668" y="2307144"/>
            <a:ext cx="6400800" cy="8922326"/>
          </a:xfrm>
          <a:prstGeom prst="rect">
            <a:avLst/>
          </a:prstGeom>
        </p:spPr>
        <p:txBody>
          <a:bodyPr vert="horz" lIns="91440" tIns="45720" rIns="91440" bIns="45720" rtlCol="0" anchor="ctr">
            <a:normAutofit/>
          </a:bodyPr>
          <a:lstStyle/>
          <a:p>
            <a:pPr defTabSz="914400"/>
            <a:r>
              <a:rPr lang="en-US" sz="4400" kern="1200">
                <a:solidFill>
                  <a:srgbClr val="FFFFFF"/>
                </a:solidFill>
                <a:latin typeface="+mj-lt"/>
                <a:ea typeface="+mj-ea"/>
                <a:cs typeface="+mj-cs"/>
              </a:rPr>
              <a:t>Motivation</a:t>
            </a:r>
          </a:p>
        </p:txBody>
      </p:sp>
      <p:sp>
        <p:nvSpPr>
          <p:cNvPr id="182" name="The motivation for the work is to develop a security system capable of detecting harmful behaviour. The IDS employs data mining techniques such as Multi Layer Perceptron, Auto Encoders, and SVM. The machine learning system learns about the attack feature"/>
          <p:cNvSpPr txBox="1">
            <a:spLocks noGrp="1"/>
          </p:cNvSpPr>
          <p:nvPr>
            <p:ph type="body" idx="1"/>
          </p:nvPr>
        </p:nvSpPr>
        <p:spPr>
          <a:xfrm>
            <a:off x="1061434" y="3029120"/>
            <a:ext cx="22391649" cy="8922327"/>
          </a:xfrm>
          <a:prstGeom prst="rect">
            <a:avLst/>
          </a:prstGeom>
        </p:spPr>
        <p:txBody>
          <a:bodyPr vert="horz" lIns="91440" tIns="45720" rIns="91440" bIns="45720" rtlCol="0" anchor="ctr">
            <a:normAutofit/>
          </a:bodyPr>
          <a:lstStyle/>
          <a:p>
            <a:pPr marL="914400" indent="-685800" defTabSz="914400"/>
            <a:r>
              <a:rPr lang="en-US" sz="5000" dirty="0">
                <a:latin typeface="Helvetica" pitchFamily="2" charset="0"/>
              </a:rPr>
              <a:t>The motivation for the work is to develop a security system capable of detecting harmful behavior. The IDS employs data mining techniques such as Multi Layer Perceptron, Auto Encoders, and SVM. The machine learning system learns about the attack features.</a:t>
            </a:r>
          </a:p>
          <a:p>
            <a:pPr marL="914400" indent="-685800" defTabSz="914400"/>
            <a:r>
              <a:rPr lang="en-US" sz="5000" dirty="0">
                <a:latin typeface="Helvetica" pitchFamily="2" charset="0"/>
              </a:rPr>
              <a:t>Contributions of suggested work are:</a:t>
            </a:r>
          </a:p>
          <a:p>
            <a:pPr marL="914400" indent="-685800" defTabSz="914400"/>
            <a:r>
              <a:rPr lang="en-US" sz="5000" dirty="0">
                <a:latin typeface="Helvetica" pitchFamily="2" charset="0"/>
              </a:rPr>
              <a:t>Machine learning algorithms are used to identify attack classes.</a:t>
            </a:r>
          </a:p>
          <a:p>
            <a:pPr marL="914400" indent="-685800" defTabSz="914400"/>
            <a:r>
              <a:rPr lang="en-US" sz="5000" dirty="0">
                <a:latin typeface="Helvetica" pitchFamily="2" charset="0"/>
              </a:rPr>
              <a:t>Determine which algorithm is most suited for an IDS situation in order to effectively resist insider attacks.</a:t>
            </a:r>
          </a:p>
          <a:p>
            <a:pPr marL="914400" indent="-685800" defTabSz="914400"/>
            <a:r>
              <a:rPr lang="en-US" sz="5000" dirty="0">
                <a:latin typeface="Helvetica" pitchFamily="2" charset="0"/>
              </a:rPr>
              <a:t>The intrusion detection system employs classification techniques to determine if a packet passing over the network is normal or an attack.</a:t>
            </a:r>
          </a:p>
        </p:txBody>
      </p:sp>
      <p:sp>
        <p:nvSpPr>
          <p:cNvPr id="3" name="TextBox 2">
            <a:extLst>
              <a:ext uri="{FF2B5EF4-FFF2-40B4-BE49-F238E27FC236}">
                <a16:creationId xmlns:a16="http://schemas.microsoft.com/office/drawing/2014/main" id="{29A374B5-0418-DD10-C275-EB71C9C76A20}"/>
              </a:ext>
            </a:extLst>
          </p:cNvPr>
          <p:cNvSpPr txBox="1"/>
          <p:nvPr/>
        </p:nvSpPr>
        <p:spPr>
          <a:xfrm>
            <a:off x="1061434" y="1267749"/>
            <a:ext cx="21636664" cy="1400383"/>
          </a:xfrm>
          <a:prstGeom prst="rect">
            <a:avLst/>
          </a:prstGeom>
          <a:noFill/>
        </p:spPr>
        <p:txBody>
          <a:bodyPr wrap="square">
            <a:spAutoFit/>
          </a:bodyPr>
          <a:lstStyle/>
          <a:p>
            <a:r>
              <a:rPr lang="en-US" sz="8500" b="1" dirty="0">
                <a:latin typeface="Helvetica" pitchFamily="2" charset="0"/>
              </a:rPr>
              <a:t>Motivation</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7" name="Table 1"/>
          <p:cNvGraphicFramePr/>
          <p:nvPr>
            <p:extLst>
              <p:ext uri="{D42A27DB-BD31-4B8C-83A1-F6EECF244321}">
                <p14:modId xmlns:p14="http://schemas.microsoft.com/office/powerpoint/2010/main" val="89091422"/>
              </p:ext>
            </p:extLst>
          </p:nvPr>
        </p:nvGraphicFramePr>
        <p:xfrm>
          <a:off x="998471" y="1597014"/>
          <a:ext cx="22387058" cy="11716935"/>
        </p:xfrm>
        <a:graphic>
          <a:graphicData uri="http://schemas.openxmlformats.org/drawingml/2006/table">
            <a:tbl>
              <a:tblPr>
                <a:tableStyleId>{C7B018BB-80A7-4F77-B60F-C8B233D01FF8}</a:tableStyleId>
              </a:tblPr>
              <a:tblGrid>
                <a:gridCol w="2030646">
                  <a:extLst>
                    <a:ext uri="{9D8B030D-6E8A-4147-A177-3AD203B41FA5}">
                      <a16:colId xmlns:a16="http://schemas.microsoft.com/office/drawing/2014/main" val="20000"/>
                    </a:ext>
                  </a:extLst>
                </a:gridCol>
                <a:gridCol w="6254620">
                  <a:extLst>
                    <a:ext uri="{9D8B030D-6E8A-4147-A177-3AD203B41FA5}">
                      <a16:colId xmlns:a16="http://schemas.microsoft.com/office/drawing/2014/main" val="20001"/>
                    </a:ext>
                  </a:extLst>
                </a:gridCol>
                <a:gridCol w="14101792">
                  <a:extLst>
                    <a:ext uri="{9D8B030D-6E8A-4147-A177-3AD203B41FA5}">
                      <a16:colId xmlns:a16="http://schemas.microsoft.com/office/drawing/2014/main" val="20002"/>
                    </a:ext>
                  </a:extLst>
                </a:gridCol>
              </a:tblGrid>
              <a:tr h="683647">
                <a:tc>
                  <a:txBody>
                    <a:bodyPr/>
                    <a:lstStyle/>
                    <a:p>
                      <a:pPr algn="l" defTabSz="457200">
                        <a:defRPr>
                          <a:solidFill>
                            <a:srgbClr val="000000"/>
                          </a:solidFill>
                        </a:defRPr>
                      </a:pPr>
                      <a:r>
                        <a:rPr sz="2400" b="1" dirty="0">
                          <a:solidFill>
                            <a:schemeClr val="tx1"/>
                          </a:solidFill>
                          <a:latin typeface="Helvetica" pitchFamily="2" charset="0"/>
                          <a:sym typeface="Helvetica"/>
                        </a:rPr>
                        <a:t>SI. No</a:t>
                      </a:r>
                      <a:endParaRPr sz="2400" b="1" dirty="0">
                        <a:solidFill>
                          <a:schemeClr val="tx1"/>
                        </a:solidFill>
                        <a:latin typeface="Helvetica" pitchFamily="2" charset="0"/>
                        <a:ea typeface="Helvetica"/>
                        <a:cs typeface="Helvetica"/>
                        <a:sym typeface="Helvetica"/>
                      </a:endParaRPr>
                    </a:p>
                  </a:txBody>
                  <a:tcPr marT="0" marB="0" horzOverflow="overflow"/>
                </a:tc>
                <a:tc>
                  <a:txBody>
                    <a:bodyPr/>
                    <a:lstStyle/>
                    <a:p>
                      <a:pPr algn="l" defTabSz="457200">
                        <a:defRPr>
                          <a:solidFill>
                            <a:srgbClr val="000000"/>
                          </a:solidFill>
                        </a:defRPr>
                      </a:pPr>
                      <a:r>
                        <a:rPr sz="2400" b="1" dirty="0">
                          <a:solidFill>
                            <a:schemeClr val="tx1"/>
                          </a:solidFill>
                          <a:latin typeface="Helvetica" pitchFamily="2" charset="0"/>
                          <a:sym typeface="Helvetica"/>
                        </a:rPr>
                        <a:t>Title of the Paper</a:t>
                      </a:r>
                      <a:endParaRPr sz="2400" b="1" dirty="0">
                        <a:solidFill>
                          <a:schemeClr val="tx1"/>
                        </a:solidFill>
                        <a:latin typeface="Helvetica" pitchFamily="2" charset="0"/>
                        <a:ea typeface="Helvetica"/>
                        <a:cs typeface="Helvetica"/>
                        <a:sym typeface="Helvetica"/>
                      </a:endParaRPr>
                    </a:p>
                  </a:txBody>
                  <a:tcPr marT="0" marB="0" horzOverflow="overflow"/>
                </a:tc>
                <a:tc>
                  <a:txBody>
                    <a:bodyPr/>
                    <a:lstStyle/>
                    <a:p>
                      <a:pPr algn="l" defTabSz="457200">
                        <a:defRPr>
                          <a:solidFill>
                            <a:srgbClr val="000000"/>
                          </a:solidFill>
                        </a:defRPr>
                      </a:pPr>
                      <a:r>
                        <a:rPr lang="en-US" sz="2400" b="1" dirty="0">
                          <a:solidFill>
                            <a:schemeClr val="tx1"/>
                          </a:solidFill>
                          <a:latin typeface="Helvetica" pitchFamily="2" charset="0"/>
                          <a:sym typeface="Helvetica"/>
                        </a:rPr>
                        <a:t>Content</a:t>
                      </a:r>
                      <a:endParaRPr sz="2400" b="1" dirty="0">
                        <a:solidFill>
                          <a:schemeClr val="tx1"/>
                        </a:solidFill>
                        <a:latin typeface="Helvetica" pitchFamily="2" charset="0"/>
                        <a:sym typeface="Helvetica"/>
                      </a:endParaRPr>
                    </a:p>
                  </a:txBody>
                  <a:tcPr marT="0" marB="0" horzOverflow="overflow"/>
                </a:tc>
                <a:extLst>
                  <a:ext uri="{0D108BD9-81ED-4DB2-BD59-A6C34878D82A}">
                    <a16:rowId xmlns:a16="http://schemas.microsoft.com/office/drawing/2014/main" val="10000"/>
                  </a:ext>
                </a:extLst>
              </a:tr>
              <a:tr h="2895225">
                <a:tc>
                  <a:txBody>
                    <a:bodyPr/>
                    <a:lstStyle/>
                    <a:p>
                      <a:pPr marL="609600" indent="-304800" algn="r" defTabSz="457200">
                        <a:defRPr>
                          <a:solidFill>
                            <a:srgbClr val="000000"/>
                          </a:solidFill>
                        </a:defRPr>
                      </a:pPr>
                      <a:r>
                        <a:rPr sz="2400" b="1" dirty="0">
                          <a:solidFill>
                            <a:schemeClr val="tx1"/>
                          </a:solidFill>
                          <a:latin typeface="Helvetica" pitchFamily="2" charset="0"/>
                          <a:sym typeface="Helvetica"/>
                        </a:rPr>
                        <a:t>1</a:t>
                      </a:r>
                      <a:endParaRPr sz="2400" b="1" dirty="0">
                        <a:solidFill>
                          <a:schemeClr val="tx1"/>
                        </a:solidFill>
                        <a:latin typeface="Helvetica" pitchFamily="2" charset="0"/>
                        <a:ea typeface="Helvetica"/>
                        <a:cs typeface="Helvetica"/>
                        <a:sym typeface="Helvetica"/>
                      </a:endParaRPr>
                    </a:p>
                  </a:txBody>
                  <a:tcPr marT="0" marB="0" horzOverflow="overflow"/>
                </a:tc>
                <a:tc>
                  <a:txBody>
                    <a:bodyPr/>
                    <a:lstStyle/>
                    <a:p>
                      <a:pPr algn="just" defTabSz="457200">
                        <a:defRPr>
                          <a:solidFill>
                            <a:srgbClr val="000000"/>
                          </a:solidFill>
                        </a:defRPr>
                      </a:pPr>
                      <a:r>
                        <a:rPr sz="2400" dirty="0">
                          <a:solidFill>
                            <a:schemeClr val="tx1"/>
                          </a:solidFill>
                          <a:latin typeface="Helvetica" pitchFamily="2" charset="0"/>
                          <a:sym typeface="Helvetica"/>
                        </a:rPr>
                        <a:t>A Deep Learning Approach for Intrusion Detection Using Recurrent Neural Networks - November 7, 2017</a:t>
                      </a:r>
                      <a:endParaRPr sz="2400" dirty="0">
                        <a:solidFill>
                          <a:schemeClr val="tx1"/>
                        </a:solidFill>
                        <a:latin typeface="Helvetica" pitchFamily="2" charset="0"/>
                        <a:ea typeface="Helvetica"/>
                        <a:cs typeface="Helvetica"/>
                        <a:sym typeface="Helvetica"/>
                      </a:endParaRPr>
                    </a:p>
                  </a:txBody>
                  <a:tcPr marT="0" marB="0" horzOverflow="overflow"/>
                </a:tc>
                <a:tc>
                  <a:txBody>
                    <a:bodyPr/>
                    <a:lstStyle/>
                    <a:p>
                      <a:pPr algn="l" defTabSz="457200">
                        <a:defRPr sz="2400">
                          <a:latin typeface="Helvetica"/>
                          <a:ea typeface="Helvetica"/>
                          <a:cs typeface="Helvetica"/>
                          <a:sym typeface="Helvetica"/>
                        </a:defRPr>
                      </a:pPr>
                      <a:r>
                        <a:rPr lang="en-IN" dirty="0">
                          <a:solidFill>
                            <a:schemeClr val="tx1"/>
                          </a:solidFill>
                          <a:latin typeface="Helvetica" pitchFamily="2" charset="0"/>
                        </a:rPr>
                        <a:t>1. Improved Representations: Deep learning has the potential to extract better representations from the data, leading to the creation of more effective models.</a:t>
                      </a:r>
                      <a:endParaRPr lang="en-IN" dirty="0">
                        <a:solidFill>
                          <a:schemeClr val="tx1"/>
                        </a:solidFill>
                        <a:latin typeface="Helvetica" pitchFamily="2" charset="0"/>
                        <a:sym typeface="Calibri"/>
                      </a:endParaRPr>
                    </a:p>
                    <a:p>
                      <a:pPr algn="l" defTabSz="457200">
                        <a:defRPr sz="2400">
                          <a:latin typeface="Helvetica"/>
                          <a:ea typeface="Helvetica"/>
                          <a:cs typeface="Helvetica"/>
                          <a:sym typeface="Helvetica"/>
                        </a:defRPr>
                      </a:pPr>
                      <a:r>
                        <a:rPr lang="en-IN" dirty="0">
                          <a:solidFill>
                            <a:schemeClr val="tx1"/>
                          </a:solidFill>
                          <a:latin typeface="Helvetica" pitchFamily="2" charset="0"/>
                        </a:rPr>
                        <a:t>2. Application Flexibility:  Recurrent neural networks have played an important role in various fields such as computer vision, natural language processing, speech recognition, and human action recognition.</a:t>
                      </a:r>
                    </a:p>
                    <a:p>
                      <a:pPr algn="l" defTabSz="457200">
                        <a:defRPr sz="2400">
                          <a:latin typeface="Helvetica"/>
                          <a:ea typeface="Helvetica"/>
                          <a:cs typeface="Helvetica"/>
                          <a:sym typeface="Helvetica"/>
                        </a:defRPr>
                      </a:pPr>
                      <a:r>
                        <a:rPr lang="en-IN" dirty="0">
                          <a:solidFill>
                            <a:schemeClr val="tx1"/>
                          </a:solidFill>
                          <a:latin typeface="Helvetica" pitchFamily="2" charset="0"/>
                        </a:rPr>
                        <a:t>3. Computational Resources: Deep learning models often require significant computational resources for training and inference. </a:t>
                      </a:r>
                      <a:endParaRPr lang="en-IN" dirty="0">
                        <a:solidFill>
                          <a:schemeClr val="tx1"/>
                        </a:solidFill>
                        <a:latin typeface="Helvetica" pitchFamily="2" charset="0"/>
                        <a:sym typeface="Calibri"/>
                      </a:endParaRPr>
                    </a:p>
                    <a:p>
                      <a:pPr algn="l" defTabSz="457200">
                        <a:defRPr sz="2400">
                          <a:latin typeface="Helvetica"/>
                          <a:ea typeface="Helvetica"/>
                          <a:cs typeface="Helvetica"/>
                          <a:sym typeface="Helvetica"/>
                        </a:defRPr>
                      </a:pPr>
                      <a:r>
                        <a:rPr lang="en-IN" dirty="0">
                          <a:solidFill>
                            <a:schemeClr val="tx1"/>
                          </a:solidFill>
                          <a:latin typeface="Helvetica" pitchFamily="2" charset="0"/>
                        </a:rPr>
                        <a:t>4. Data Requirements: Deep learning models may require large amounts of labelled data for effective training, which can be a challenge in certain domains. </a:t>
                      </a:r>
                      <a:endParaRPr lang="en-IN" dirty="0">
                        <a:solidFill>
                          <a:schemeClr val="tx1"/>
                        </a:solidFill>
                        <a:latin typeface="Helvetica" pitchFamily="2" charset="0"/>
                        <a:sym typeface="Calibri"/>
                      </a:endParaRPr>
                    </a:p>
                  </a:txBody>
                  <a:tcPr marT="0" marB="0" horzOverflow="overflow"/>
                </a:tc>
                <a:extLst>
                  <a:ext uri="{0D108BD9-81ED-4DB2-BD59-A6C34878D82A}">
                    <a16:rowId xmlns:a16="http://schemas.microsoft.com/office/drawing/2014/main" val="10001"/>
                  </a:ext>
                </a:extLst>
              </a:tr>
              <a:tr h="2064053">
                <a:tc>
                  <a:txBody>
                    <a:bodyPr/>
                    <a:lstStyle/>
                    <a:p>
                      <a:pPr marL="609600" indent="-304800" algn="r" defTabSz="457200">
                        <a:defRPr>
                          <a:solidFill>
                            <a:srgbClr val="000000"/>
                          </a:solidFill>
                        </a:defRPr>
                      </a:pPr>
                      <a:r>
                        <a:rPr sz="2400" b="1" dirty="0">
                          <a:solidFill>
                            <a:schemeClr val="tx1"/>
                          </a:solidFill>
                          <a:latin typeface="Helvetica" pitchFamily="2" charset="0"/>
                          <a:sym typeface="Helvetica"/>
                        </a:rPr>
                        <a:t>2</a:t>
                      </a:r>
                      <a:endParaRPr sz="2400" b="1" dirty="0">
                        <a:solidFill>
                          <a:schemeClr val="tx1"/>
                        </a:solidFill>
                        <a:latin typeface="Helvetica" pitchFamily="2" charset="0"/>
                        <a:ea typeface="Helvetica"/>
                        <a:cs typeface="Helvetica"/>
                        <a:sym typeface="Helvetica"/>
                      </a:endParaRPr>
                    </a:p>
                  </a:txBody>
                  <a:tcPr marT="0" marB="0" horzOverflow="overflow"/>
                </a:tc>
                <a:tc>
                  <a:txBody>
                    <a:bodyPr/>
                    <a:lstStyle/>
                    <a:p>
                      <a:pPr algn="just" defTabSz="457200">
                        <a:defRPr>
                          <a:solidFill>
                            <a:srgbClr val="000000"/>
                          </a:solidFill>
                        </a:defRPr>
                      </a:pPr>
                      <a:r>
                        <a:rPr sz="2400" dirty="0">
                          <a:solidFill>
                            <a:schemeClr val="tx1"/>
                          </a:solidFill>
                          <a:latin typeface="Helvetica" pitchFamily="2" charset="0"/>
                          <a:sym typeface="Arial"/>
                        </a:rPr>
                        <a:t>Applying Big Data Based Deep Learning System to Intrusion Detection - 2020</a:t>
                      </a:r>
                      <a:endParaRPr sz="2400" dirty="0">
                        <a:solidFill>
                          <a:schemeClr val="tx1"/>
                        </a:solidFill>
                        <a:latin typeface="Helvetica" pitchFamily="2" charset="0"/>
                        <a:ea typeface="Arial"/>
                        <a:cs typeface="Arial"/>
                        <a:sym typeface="Arial"/>
                      </a:endParaRPr>
                    </a:p>
                  </a:txBody>
                  <a:tcPr marT="0" marB="0" horzOverflow="overflow"/>
                </a:tc>
                <a:tc>
                  <a:txBody>
                    <a:bodyPr/>
                    <a:lstStyle/>
                    <a:p>
                      <a:pPr algn="l" defTabSz="457200">
                        <a:defRPr>
                          <a:solidFill>
                            <a:srgbClr val="000000"/>
                          </a:solidFill>
                        </a:defRPr>
                      </a:pPr>
                      <a:r>
                        <a:rPr sz="2400" dirty="0">
                          <a:solidFill>
                            <a:schemeClr val="tx1"/>
                          </a:solidFill>
                          <a:latin typeface="Helvetica" pitchFamily="2" charset="0"/>
                          <a:sym typeface="Helvetica"/>
                        </a:rPr>
                        <a:t>1. Utilization of big data techniques: BDHDLS leverages big data techniques, such as Apache Spark, for feature selection and clustering, enabling efficient processing of large-scale network traffic data.</a:t>
                      </a:r>
                      <a:endParaRPr lang="en-US" sz="2400" dirty="0">
                        <a:solidFill>
                          <a:schemeClr val="tx1"/>
                        </a:solidFill>
                        <a:latin typeface="Helvetica" pitchFamily="2" charset="0"/>
                        <a:sym typeface="Helvetica"/>
                      </a:endParaRPr>
                    </a:p>
                    <a:p>
                      <a:pPr marL="0" marR="0" lvl="0" indent="0" algn="l" defTabSz="457200" rtl="0" eaLnBrk="1" fontAlgn="auto" latinLnBrk="0" hangingPunct="1">
                        <a:lnSpc>
                          <a:spcPct val="100000"/>
                        </a:lnSpc>
                        <a:spcBef>
                          <a:spcPts val="0"/>
                        </a:spcBef>
                        <a:spcAft>
                          <a:spcPts val="0"/>
                        </a:spcAft>
                        <a:buClrTx/>
                        <a:buSzTx/>
                        <a:buFontTx/>
                        <a:buNone/>
                        <a:tabLst/>
                        <a:defRPr>
                          <a:solidFill>
                            <a:srgbClr val="000000"/>
                          </a:solidFill>
                        </a:defRPr>
                      </a:pPr>
                      <a:r>
                        <a:rPr lang="en-IN" sz="2400" dirty="0">
                          <a:solidFill>
                            <a:schemeClr val="tx1"/>
                          </a:solidFill>
                          <a:latin typeface="Helvetica" pitchFamily="2" charset="0"/>
                          <a:sym typeface="Helvetica"/>
                        </a:rPr>
                        <a:t>2. Computational intensity: The process of feature selection and clustering in BDHDLS requires the utilization of big data techniques to speed up the time and space intensive computational process, which may require significant computational resources.</a:t>
                      </a:r>
                      <a:endParaRPr lang="en-IN" sz="2400" dirty="0">
                        <a:solidFill>
                          <a:schemeClr val="tx1"/>
                        </a:solidFill>
                        <a:latin typeface="Helvetica" pitchFamily="2" charset="0"/>
                        <a:ea typeface="Helvetica"/>
                        <a:cs typeface="Helvetica"/>
                        <a:sym typeface="Helvetica"/>
                      </a:endParaRPr>
                    </a:p>
                    <a:p>
                      <a:pPr algn="l" defTabSz="457200">
                        <a:defRPr>
                          <a:solidFill>
                            <a:srgbClr val="000000"/>
                          </a:solidFill>
                        </a:defRPr>
                      </a:pPr>
                      <a:endParaRPr sz="2400" dirty="0">
                        <a:solidFill>
                          <a:schemeClr val="tx1"/>
                        </a:solidFill>
                        <a:latin typeface="Helvetica" pitchFamily="2" charset="0"/>
                        <a:ea typeface="Helvetica"/>
                        <a:cs typeface="Helvetica"/>
                        <a:sym typeface="Helvetica"/>
                      </a:endParaRPr>
                    </a:p>
                  </a:txBody>
                  <a:tcPr marT="0" marB="0" horzOverflow="overflow"/>
                </a:tc>
                <a:extLst>
                  <a:ext uri="{0D108BD9-81ED-4DB2-BD59-A6C34878D82A}">
                    <a16:rowId xmlns:a16="http://schemas.microsoft.com/office/drawing/2014/main" val="10002"/>
                  </a:ext>
                </a:extLst>
              </a:tr>
              <a:tr h="2620808">
                <a:tc>
                  <a:txBody>
                    <a:bodyPr/>
                    <a:lstStyle/>
                    <a:p>
                      <a:pPr marL="609600" indent="-304800" algn="r" defTabSz="457200">
                        <a:defRPr>
                          <a:solidFill>
                            <a:srgbClr val="000000"/>
                          </a:solidFill>
                        </a:defRPr>
                      </a:pPr>
                      <a:r>
                        <a:rPr sz="2400" b="1" dirty="0">
                          <a:solidFill>
                            <a:schemeClr val="tx1"/>
                          </a:solidFill>
                          <a:latin typeface="Helvetica" pitchFamily="2" charset="0"/>
                          <a:sym typeface="Helvetica"/>
                        </a:rPr>
                        <a:t>3</a:t>
                      </a:r>
                      <a:endParaRPr sz="2400" b="1" dirty="0">
                        <a:solidFill>
                          <a:schemeClr val="tx1"/>
                        </a:solidFill>
                        <a:latin typeface="Helvetica" pitchFamily="2" charset="0"/>
                        <a:ea typeface="Helvetica"/>
                        <a:cs typeface="Helvetica"/>
                        <a:sym typeface="Helvetica"/>
                      </a:endParaRPr>
                    </a:p>
                  </a:txBody>
                  <a:tcPr marT="0" marB="0" horzOverflow="overflow"/>
                </a:tc>
                <a:tc>
                  <a:txBody>
                    <a:bodyPr/>
                    <a:lstStyle/>
                    <a:p>
                      <a:pPr algn="just" defTabSz="457200">
                        <a:defRPr>
                          <a:solidFill>
                            <a:srgbClr val="000000"/>
                          </a:solidFill>
                        </a:defRPr>
                      </a:pPr>
                      <a:r>
                        <a:rPr sz="2400" dirty="0">
                          <a:solidFill>
                            <a:schemeClr val="tx1"/>
                          </a:solidFill>
                          <a:latin typeface="Helvetica" pitchFamily="2" charset="0"/>
                          <a:sym typeface="Arial"/>
                        </a:rPr>
                        <a:t>A deep learning approach for effective intrusion detection in wireless networks using CNN - 2020</a:t>
                      </a:r>
                      <a:endParaRPr sz="2400" dirty="0">
                        <a:solidFill>
                          <a:schemeClr val="tx1"/>
                        </a:solidFill>
                        <a:latin typeface="Helvetica" pitchFamily="2" charset="0"/>
                        <a:ea typeface="Arial"/>
                        <a:cs typeface="Arial"/>
                        <a:sym typeface="Arial"/>
                      </a:endParaRPr>
                    </a:p>
                  </a:txBody>
                  <a:tcPr marT="0" marB="0" horzOverflow="overflow"/>
                </a:tc>
                <a:tc>
                  <a:txBody>
                    <a:bodyPr/>
                    <a:lstStyle/>
                    <a:p>
                      <a:pPr algn="l" defTabSz="457200">
                        <a:defRPr>
                          <a:solidFill>
                            <a:srgbClr val="000000"/>
                          </a:solidFill>
                        </a:defRPr>
                      </a:pPr>
                      <a:r>
                        <a:rPr sz="2400" dirty="0">
                          <a:solidFill>
                            <a:schemeClr val="tx1"/>
                          </a:solidFill>
                          <a:latin typeface="Helvetica" pitchFamily="2" charset="0"/>
                          <a:sym typeface="Helvetica"/>
                        </a:rPr>
                        <a:t>High overall detection accuracy, the use of a deep learning approach, and the incorporation of a feature selection algorithm to improve the efficiency and effectiveness of the system.</a:t>
                      </a:r>
                      <a:endParaRPr lang="en-US" sz="2400" dirty="0">
                        <a:solidFill>
                          <a:schemeClr val="tx1"/>
                        </a:solidFill>
                        <a:latin typeface="Helvetica" pitchFamily="2" charset="0"/>
                        <a:sym typeface="Helvetica"/>
                      </a:endParaRPr>
                    </a:p>
                    <a:p>
                      <a:pPr marL="0" marR="0" lvl="0" indent="0" algn="l" defTabSz="457200" rtl="0" eaLnBrk="1" fontAlgn="auto" latinLnBrk="0" hangingPunct="1">
                        <a:lnSpc>
                          <a:spcPct val="100000"/>
                        </a:lnSpc>
                        <a:spcBef>
                          <a:spcPts val="0"/>
                        </a:spcBef>
                        <a:spcAft>
                          <a:spcPts val="0"/>
                        </a:spcAft>
                        <a:buClrTx/>
                        <a:buSzTx/>
                        <a:buFontTx/>
                        <a:buNone/>
                        <a:tabLst/>
                        <a:defRPr>
                          <a:solidFill>
                            <a:srgbClr val="000000"/>
                          </a:solidFill>
                        </a:defRPr>
                      </a:pPr>
                      <a:r>
                        <a:rPr lang="en-IN" sz="2400" dirty="0">
                          <a:solidFill>
                            <a:schemeClr val="tx1"/>
                          </a:solidFill>
                          <a:latin typeface="Helvetica" pitchFamily="2" charset="0"/>
                          <a:sym typeface="Helvetica"/>
                        </a:rPr>
                        <a:t>Need for significant computational resources to implement the deep learning approach, the potential for false positives or false negatives in the detection process, and the possibility of the system being vulnerable to new or unknown types of attacks that it has not been trained to detect.</a:t>
                      </a:r>
                      <a:endParaRPr lang="en-IN" sz="2400" dirty="0">
                        <a:solidFill>
                          <a:schemeClr val="tx1"/>
                        </a:solidFill>
                        <a:latin typeface="Helvetica" pitchFamily="2" charset="0"/>
                        <a:ea typeface="Helvetica"/>
                        <a:cs typeface="Helvetica"/>
                        <a:sym typeface="Helvetica"/>
                      </a:endParaRPr>
                    </a:p>
                    <a:p>
                      <a:pPr algn="l" defTabSz="457200">
                        <a:defRPr>
                          <a:solidFill>
                            <a:srgbClr val="000000"/>
                          </a:solidFill>
                        </a:defRPr>
                      </a:pPr>
                      <a:endParaRPr sz="2400" dirty="0">
                        <a:solidFill>
                          <a:schemeClr val="tx1"/>
                        </a:solidFill>
                        <a:latin typeface="Helvetica" pitchFamily="2" charset="0"/>
                        <a:ea typeface="Helvetica"/>
                        <a:cs typeface="Helvetica"/>
                        <a:sym typeface="Helvetica"/>
                      </a:endParaRPr>
                    </a:p>
                  </a:txBody>
                  <a:tcPr marT="0" marB="0" horzOverflow="overflow"/>
                </a:tc>
                <a:extLst>
                  <a:ext uri="{0D108BD9-81ED-4DB2-BD59-A6C34878D82A}">
                    <a16:rowId xmlns:a16="http://schemas.microsoft.com/office/drawing/2014/main" val="10003"/>
                  </a:ext>
                </a:extLst>
              </a:tr>
              <a:tr h="2620808">
                <a:tc>
                  <a:txBody>
                    <a:bodyPr/>
                    <a:lstStyle/>
                    <a:p>
                      <a:pPr marL="609600" indent="-304800" algn="r" defTabSz="457200">
                        <a:defRPr>
                          <a:solidFill>
                            <a:srgbClr val="000000"/>
                          </a:solidFill>
                        </a:defRPr>
                      </a:pPr>
                      <a:r>
                        <a:rPr sz="2400" b="1" dirty="0">
                          <a:solidFill>
                            <a:schemeClr val="tx1"/>
                          </a:solidFill>
                          <a:latin typeface="Helvetica" pitchFamily="2" charset="0"/>
                          <a:sym typeface="Helvetica"/>
                        </a:rPr>
                        <a:t>4</a:t>
                      </a:r>
                      <a:endParaRPr sz="2400" b="1" dirty="0">
                        <a:solidFill>
                          <a:schemeClr val="tx1"/>
                        </a:solidFill>
                        <a:latin typeface="Helvetica" pitchFamily="2" charset="0"/>
                        <a:ea typeface="Helvetica"/>
                        <a:cs typeface="Helvetica"/>
                        <a:sym typeface="Helvetica"/>
                      </a:endParaRPr>
                    </a:p>
                  </a:txBody>
                  <a:tcPr marT="0" marB="0" horzOverflow="overflow"/>
                </a:tc>
                <a:tc>
                  <a:txBody>
                    <a:bodyPr/>
                    <a:lstStyle/>
                    <a:p>
                      <a:pPr algn="l" defTabSz="457200">
                        <a:defRPr sz="2400">
                          <a:latin typeface="Arial"/>
                          <a:ea typeface="Arial"/>
                          <a:cs typeface="Arial"/>
                          <a:sym typeface="Arial"/>
                        </a:defRPr>
                      </a:pPr>
                      <a:r>
                        <a:rPr dirty="0">
                          <a:solidFill>
                            <a:schemeClr val="tx1"/>
                          </a:solidFill>
                          <a:latin typeface="Helvetica" pitchFamily="2" charset="0"/>
                        </a:rPr>
                        <a:t>Using Deep Learning Techniques for</a:t>
                      </a:r>
                      <a:r>
                        <a:rPr lang="en-US" dirty="0">
                          <a:solidFill>
                            <a:schemeClr val="tx1"/>
                          </a:solidFill>
                          <a:latin typeface="Helvetica" pitchFamily="2" charset="0"/>
                        </a:rPr>
                        <a:t> </a:t>
                      </a:r>
                      <a:r>
                        <a:rPr dirty="0">
                          <a:solidFill>
                            <a:schemeClr val="tx1"/>
                          </a:solidFill>
                          <a:latin typeface="Helvetica" pitchFamily="2" charset="0"/>
                        </a:rPr>
                        <a:t>Network</a:t>
                      </a:r>
                      <a:br>
                        <a:rPr dirty="0">
                          <a:solidFill>
                            <a:schemeClr val="tx1"/>
                          </a:solidFill>
                          <a:latin typeface="Helvetica" pitchFamily="2" charset="0"/>
                          <a:sym typeface="Helvetica"/>
                        </a:rPr>
                      </a:br>
                      <a:r>
                        <a:rPr dirty="0">
                          <a:solidFill>
                            <a:schemeClr val="tx1"/>
                          </a:solidFill>
                          <a:latin typeface="Helvetica" pitchFamily="2" charset="0"/>
                        </a:rPr>
                        <a:t>Intrusion Detection - 2020</a:t>
                      </a:r>
                    </a:p>
                  </a:txBody>
                  <a:tcPr marT="0" marB="0" horzOverflow="overflow"/>
                </a:tc>
                <a:tc>
                  <a:txBody>
                    <a:bodyPr/>
                    <a:lstStyle/>
                    <a:p>
                      <a:pPr algn="l" defTabSz="457200">
                        <a:defRPr>
                          <a:solidFill>
                            <a:srgbClr val="000000"/>
                          </a:solidFill>
                        </a:defRPr>
                      </a:pPr>
                      <a:r>
                        <a:rPr sz="2400" dirty="0">
                          <a:solidFill>
                            <a:schemeClr val="tx1"/>
                          </a:solidFill>
                          <a:latin typeface="Helvetica" pitchFamily="2" charset="0"/>
                          <a:sym typeface="Helvetica"/>
                        </a:rPr>
                        <a:t>1. Utilization of Deep Learning Techniques: The paper leverages CNN and RNN architectures for network intrusion detection, showcasing the application of advanced deep learning techniques in the field of cybersecurity</a:t>
                      </a:r>
                      <a:endParaRPr lang="en-US" sz="2400" dirty="0">
                        <a:solidFill>
                          <a:schemeClr val="tx1"/>
                        </a:solidFill>
                        <a:latin typeface="Helvetica" pitchFamily="2" charset="0"/>
                        <a:sym typeface="Helvetica"/>
                      </a:endParaRPr>
                    </a:p>
                    <a:p>
                      <a:pPr marL="0" marR="0" lvl="0" indent="0" algn="l" defTabSz="457200" rtl="0" eaLnBrk="1" fontAlgn="auto" latinLnBrk="0" hangingPunct="1">
                        <a:lnSpc>
                          <a:spcPct val="100000"/>
                        </a:lnSpc>
                        <a:spcBef>
                          <a:spcPts val="0"/>
                        </a:spcBef>
                        <a:spcAft>
                          <a:spcPts val="0"/>
                        </a:spcAft>
                        <a:buClrTx/>
                        <a:buSzTx/>
                        <a:buFontTx/>
                        <a:buNone/>
                        <a:tabLst/>
                        <a:defRPr>
                          <a:solidFill>
                            <a:srgbClr val="000000"/>
                          </a:solidFill>
                        </a:defRPr>
                      </a:pPr>
                      <a:r>
                        <a:rPr lang="en-IN" sz="2400" dirty="0">
                          <a:solidFill>
                            <a:schemeClr val="tx1"/>
                          </a:solidFill>
                          <a:latin typeface="Helvetica" pitchFamily="2" charset="0"/>
                          <a:ea typeface="Helvetica"/>
                          <a:cs typeface="Helvetica"/>
                          <a:sym typeface="Helvetica"/>
                        </a:rPr>
                        <a:t>2.</a:t>
                      </a:r>
                      <a:r>
                        <a:rPr lang="en-IN" sz="2400" dirty="0">
                          <a:solidFill>
                            <a:schemeClr val="tx1"/>
                          </a:solidFill>
                          <a:latin typeface="Helvetica" pitchFamily="2" charset="0"/>
                          <a:sym typeface="Helvetica"/>
                        </a:rPr>
                        <a:t>Limited Computational Resources: The paper acknowledges the challenge of limited computational resources, which resulted in longer training times for the models. This limitation may impact the scalability and practical implementation of the proposed system.
</a:t>
                      </a:r>
                      <a:endParaRPr lang="en-IN" sz="2400" dirty="0">
                        <a:solidFill>
                          <a:schemeClr val="tx1"/>
                        </a:solidFill>
                        <a:latin typeface="Helvetica" pitchFamily="2" charset="0"/>
                        <a:ea typeface="Helvetica"/>
                        <a:cs typeface="Helvetica"/>
                        <a:sym typeface="Helvetica"/>
                      </a:endParaRPr>
                    </a:p>
                    <a:p>
                      <a:pPr algn="l" defTabSz="457200">
                        <a:defRPr>
                          <a:solidFill>
                            <a:srgbClr val="000000"/>
                          </a:solidFill>
                        </a:defRPr>
                      </a:pPr>
                      <a:endParaRPr sz="2400" dirty="0">
                        <a:solidFill>
                          <a:schemeClr val="tx1"/>
                        </a:solidFill>
                        <a:latin typeface="Helvetica" pitchFamily="2" charset="0"/>
                        <a:ea typeface="Helvetica"/>
                        <a:cs typeface="Helvetica"/>
                        <a:sym typeface="Helvetica"/>
                      </a:endParaRPr>
                    </a:p>
                  </a:txBody>
                  <a:tcPr marT="0" marB="0" horzOverflow="overflow"/>
                </a:tc>
                <a:extLst>
                  <a:ext uri="{0D108BD9-81ED-4DB2-BD59-A6C34878D82A}">
                    <a16:rowId xmlns:a16="http://schemas.microsoft.com/office/drawing/2014/main" val="4075756355"/>
                  </a:ext>
                </a:extLst>
              </a:tr>
            </a:tbl>
          </a:graphicData>
        </a:graphic>
      </p:graphicFrame>
      <p:sp>
        <p:nvSpPr>
          <p:cNvPr id="188" name="Literature Survey"/>
          <p:cNvSpPr txBox="1"/>
          <p:nvPr/>
        </p:nvSpPr>
        <p:spPr>
          <a:xfrm>
            <a:off x="998471" y="77498"/>
            <a:ext cx="14526587" cy="14106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r>
              <a:rPr sz="8500" b="1" dirty="0">
                <a:latin typeface="Helvetica" pitchFamily="2" charset="0"/>
              </a:rPr>
              <a:t>Literature Survey</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638D9E6-B0E9-EC2A-6C83-C48D0ED9826D}"/>
              </a:ext>
            </a:extLst>
          </p:cNvPr>
          <p:cNvSpPr>
            <a:spLocks noGrp="1"/>
          </p:cNvSpPr>
          <p:nvPr>
            <p:ph type="body" sz="quarter" idx="21"/>
          </p:nvPr>
        </p:nvSpPr>
        <p:spPr>
          <a:xfrm>
            <a:off x="998470" y="268846"/>
            <a:ext cx="22054035" cy="789934"/>
          </a:xfrm>
        </p:spPr>
        <p:txBody>
          <a:bodyPr>
            <a:noAutofit/>
          </a:bodyPr>
          <a:lstStyle/>
          <a:p>
            <a:r>
              <a:rPr lang="en-IN" sz="8500" b="1" dirty="0">
                <a:latin typeface="Helvetica" pitchFamily="2" charset="0"/>
              </a:rPr>
              <a:t>Literature Survey</a:t>
            </a:r>
          </a:p>
          <a:p>
            <a:endParaRPr lang="en-US" sz="8500" dirty="0">
              <a:latin typeface="Helvetica" pitchFamily="2" charset="0"/>
            </a:endParaRPr>
          </a:p>
        </p:txBody>
      </p:sp>
      <p:graphicFrame>
        <p:nvGraphicFramePr>
          <p:cNvPr id="12" name="Table 1">
            <a:extLst>
              <a:ext uri="{FF2B5EF4-FFF2-40B4-BE49-F238E27FC236}">
                <a16:creationId xmlns:a16="http://schemas.microsoft.com/office/drawing/2014/main" id="{379088E0-92B0-2CEB-F01D-AB32CAEC4112}"/>
              </a:ext>
            </a:extLst>
          </p:cNvPr>
          <p:cNvGraphicFramePr/>
          <p:nvPr>
            <p:extLst>
              <p:ext uri="{D42A27DB-BD31-4B8C-83A1-F6EECF244321}">
                <p14:modId xmlns:p14="http://schemas.microsoft.com/office/powerpoint/2010/main" val="2865370686"/>
              </p:ext>
            </p:extLst>
          </p:nvPr>
        </p:nvGraphicFramePr>
        <p:xfrm>
          <a:off x="998470" y="1597014"/>
          <a:ext cx="23191566" cy="11837019"/>
        </p:xfrm>
        <a:graphic>
          <a:graphicData uri="http://schemas.openxmlformats.org/drawingml/2006/table">
            <a:tbl>
              <a:tblPr>
                <a:tableStyleId>{C7B018BB-80A7-4F77-B60F-C8B233D01FF8}</a:tableStyleId>
              </a:tblPr>
              <a:tblGrid>
                <a:gridCol w="1729550">
                  <a:extLst>
                    <a:ext uri="{9D8B030D-6E8A-4147-A177-3AD203B41FA5}">
                      <a16:colId xmlns:a16="http://schemas.microsoft.com/office/drawing/2014/main" val="20000"/>
                    </a:ext>
                  </a:extLst>
                </a:gridCol>
                <a:gridCol w="5701216">
                  <a:extLst>
                    <a:ext uri="{9D8B030D-6E8A-4147-A177-3AD203B41FA5}">
                      <a16:colId xmlns:a16="http://schemas.microsoft.com/office/drawing/2014/main" val="20001"/>
                    </a:ext>
                  </a:extLst>
                </a:gridCol>
                <a:gridCol w="15760800">
                  <a:extLst>
                    <a:ext uri="{9D8B030D-6E8A-4147-A177-3AD203B41FA5}">
                      <a16:colId xmlns:a16="http://schemas.microsoft.com/office/drawing/2014/main" val="20002"/>
                    </a:ext>
                  </a:extLst>
                </a:gridCol>
              </a:tblGrid>
              <a:tr h="665944">
                <a:tc>
                  <a:txBody>
                    <a:bodyPr/>
                    <a:lstStyle/>
                    <a:p>
                      <a:pPr algn="l" defTabSz="457200">
                        <a:defRPr>
                          <a:solidFill>
                            <a:srgbClr val="000000"/>
                          </a:solidFill>
                        </a:defRPr>
                      </a:pPr>
                      <a:r>
                        <a:rPr sz="2400" b="1" dirty="0">
                          <a:solidFill>
                            <a:schemeClr val="tx1"/>
                          </a:solidFill>
                          <a:sym typeface="Helvetica"/>
                        </a:rPr>
                        <a:t>SI. No</a:t>
                      </a:r>
                      <a:endParaRPr sz="2400" b="1" dirty="0">
                        <a:solidFill>
                          <a:schemeClr val="tx1"/>
                        </a:solidFill>
                        <a:latin typeface="Helvetica"/>
                        <a:ea typeface="Helvetica"/>
                        <a:cs typeface="Helvetica"/>
                        <a:sym typeface="Helvetica"/>
                      </a:endParaRPr>
                    </a:p>
                  </a:txBody>
                  <a:tcPr marT="0" marB="0" horzOverflow="overflow"/>
                </a:tc>
                <a:tc>
                  <a:txBody>
                    <a:bodyPr/>
                    <a:lstStyle/>
                    <a:p>
                      <a:pPr algn="l" defTabSz="457200">
                        <a:defRPr>
                          <a:solidFill>
                            <a:srgbClr val="000000"/>
                          </a:solidFill>
                        </a:defRPr>
                      </a:pPr>
                      <a:r>
                        <a:rPr sz="2400" b="1" dirty="0">
                          <a:solidFill>
                            <a:schemeClr val="tx1"/>
                          </a:solidFill>
                          <a:sym typeface="Helvetica"/>
                        </a:rPr>
                        <a:t>Title of the Paper</a:t>
                      </a:r>
                      <a:endParaRPr sz="2400" b="1" dirty="0">
                        <a:solidFill>
                          <a:schemeClr val="tx1"/>
                        </a:solidFill>
                        <a:latin typeface="Helvetica"/>
                        <a:ea typeface="Helvetica"/>
                        <a:cs typeface="Helvetica"/>
                        <a:sym typeface="Helvetica"/>
                      </a:endParaRPr>
                    </a:p>
                  </a:txBody>
                  <a:tcPr marT="0" marB="0" horzOverflow="overflow"/>
                </a:tc>
                <a:tc>
                  <a:txBody>
                    <a:bodyPr/>
                    <a:lstStyle/>
                    <a:p>
                      <a:pPr algn="l" defTabSz="457200">
                        <a:defRPr>
                          <a:solidFill>
                            <a:srgbClr val="000000"/>
                          </a:solidFill>
                        </a:defRPr>
                      </a:pPr>
                      <a:r>
                        <a:rPr lang="en-US" sz="2400" b="1" dirty="0">
                          <a:solidFill>
                            <a:schemeClr val="tx1"/>
                          </a:solidFill>
                          <a:sym typeface="Helvetica"/>
                        </a:rPr>
                        <a:t>Content</a:t>
                      </a:r>
                      <a:endParaRPr sz="2400" b="1" dirty="0">
                        <a:solidFill>
                          <a:schemeClr val="tx1"/>
                        </a:solidFill>
                        <a:latin typeface="Helvetica"/>
                        <a:sym typeface="Helvetica"/>
                      </a:endParaRPr>
                    </a:p>
                  </a:txBody>
                  <a:tcPr marT="0" marB="0" horzOverflow="overflow"/>
                </a:tc>
                <a:extLst>
                  <a:ext uri="{0D108BD9-81ED-4DB2-BD59-A6C34878D82A}">
                    <a16:rowId xmlns:a16="http://schemas.microsoft.com/office/drawing/2014/main" val="10000"/>
                  </a:ext>
                </a:extLst>
              </a:tr>
              <a:tr h="3156874">
                <a:tc>
                  <a:txBody>
                    <a:bodyPr/>
                    <a:lstStyle/>
                    <a:p>
                      <a:pPr algn="r"/>
                      <a:r>
                        <a:rPr lang="en-IN" sz="2400" b="1" dirty="0">
                          <a:solidFill>
                            <a:schemeClr val="tx1"/>
                          </a:solidFill>
                          <a:effectLst/>
                          <a:latin typeface="Helvetica" pitchFamily="2" charset="0"/>
                        </a:rPr>
                        <a:t>5</a:t>
                      </a:r>
                      <a:r>
                        <a:rPr lang="en-IN" sz="2400" b="1" dirty="0">
                          <a:solidFill>
                            <a:schemeClr val="bg1"/>
                          </a:solidFill>
                          <a:effectLst/>
                          <a:latin typeface="Helvetica" pitchFamily="2" charset="0"/>
                        </a:rPr>
                        <a:t>,</a:t>
                      </a:r>
                      <a:r>
                        <a:rPr lang="en-IN" sz="2400" b="1" dirty="0">
                          <a:solidFill>
                            <a:schemeClr val="tx1"/>
                          </a:solidFill>
                          <a:effectLst/>
                          <a:latin typeface="Helvetica" pitchFamily="2" charset="0"/>
                        </a:rPr>
                        <a:t>  </a:t>
                      </a:r>
                      <a:endParaRPr lang="en-IN" sz="2400" dirty="0">
                        <a:solidFill>
                          <a:schemeClr val="tx1"/>
                        </a:solidFill>
                        <a:effectLst/>
                        <a:latin typeface="Helvetica" pitchFamily="2" charset="0"/>
                      </a:endParaRPr>
                    </a:p>
                  </a:txBody>
                  <a:tcPr marL="0" marR="0" marT="0" marB="0"/>
                </a:tc>
                <a:tc>
                  <a:txBody>
                    <a:bodyPr/>
                    <a:lstStyle/>
                    <a:p>
                      <a:pPr algn="just"/>
                      <a:r>
                        <a:rPr lang="en-IN" sz="2400" dirty="0">
                          <a:solidFill>
                            <a:schemeClr val="tx1"/>
                          </a:solidFill>
                          <a:effectLst/>
                          <a:latin typeface="Helvetica" pitchFamily="2" charset="0"/>
                        </a:rPr>
                        <a:t>A Novel Network Intrusion Detection System Based on CNN - 2020</a:t>
                      </a:r>
                    </a:p>
                  </a:txBody>
                  <a:tcPr marL="0" marR="0" marT="0" marB="0"/>
                </a:tc>
                <a:tc>
                  <a:txBody>
                    <a:bodyPr/>
                    <a:lstStyle/>
                    <a:p>
                      <a:pPr algn="just"/>
                      <a:r>
                        <a:rPr lang="en-IN" sz="2400" dirty="0">
                          <a:solidFill>
                            <a:schemeClr val="tx1"/>
                          </a:solidFill>
                          <a:effectLst/>
                          <a:latin typeface="Helvetica" pitchFamily="2" charset="0"/>
                        </a:rPr>
                        <a:t>The document explores the application of deep learning, specifically Convolutional Neural Networks (CNN) and Recurrent Neural Networks (RNN), in network intrusion detection to combat the rising complexity of cyber-security threats. It presents a comprehensive review of utilizing deep neural networks for intrusion detection, evaluating their efficacy through experiments with the NSL-KDD dataset. Results indicate CNN's superiority over RNN variants, achieving over 97% accuracy. Despite promising results, challenges like lengthy training times due to resource constraints are noted. Future research aims to optimize deep learning models' performance, considering computational requirements and hyperparameters. Overall, the document underscores the potential of deep learning in enhancing Network Intrusion Detection Systems (NIDS), while also highlighting the need for further investigation to overcome implementation hurdles and improve efficacy.</a:t>
                      </a:r>
                    </a:p>
                  </a:txBody>
                  <a:tcPr marL="0" marR="0" marT="0" marB="0"/>
                </a:tc>
                <a:extLst>
                  <a:ext uri="{0D108BD9-81ED-4DB2-BD59-A6C34878D82A}">
                    <a16:rowId xmlns:a16="http://schemas.microsoft.com/office/drawing/2014/main" val="10001"/>
                  </a:ext>
                </a:extLst>
              </a:tr>
              <a:tr h="3858402">
                <a:tc>
                  <a:txBody>
                    <a:bodyPr/>
                    <a:lstStyle/>
                    <a:p>
                      <a:pPr algn="r"/>
                      <a:r>
                        <a:rPr lang="en-IN" sz="2400" b="1" dirty="0">
                          <a:solidFill>
                            <a:schemeClr val="tx1"/>
                          </a:solidFill>
                          <a:effectLst/>
                          <a:latin typeface="Helvetica" pitchFamily="2" charset="0"/>
                        </a:rPr>
                        <a:t>6</a:t>
                      </a:r>
                      <a:r>
                        <a:rPr lang="en-IN" sz="2400" b="1" dirty="0">
                          <a:solidFill>
                            <a:schemeClr val="bg1"/>
                          </a:solidFill>
                          <a:effectLst/>
                          <a:latin typeface="Helvetica" pitchFamily="2" charset="0"/>
                        </a:rPr>
                        <a:t>,</a:t>
                      </a:r>
                      <a:endParaRPr lang="en-IN" sz="2400" dirty="0">
                        <a:solidFill>
                          <a:schemeClr val="tx1"/>
                        </a:solidFill>
                        <a:effectLst/>
                        <a:latin typeface="Helvetica" pitchFamily="2" charset="0"/>
                      </a:endParaRPr>
                    </a:p>
                  </a:txBody>
                  <a:tcPr marL="0" marR="0" marT="0" marB="0"/>
                </a:tc>
                <a:tc>
                  <a:txBody>
                    <a:bodyPr/>
                    <a:lstStyle/>
                    <a:p>
                      <a:r>
                        <a:rPr lang="en-IN" sz="2400" dirty="0">
                          <a:solidFill>
                            <a:schemeClr val="tx1"/>
                          </a:solidFill>
                          <a:effectLst/>
                          <a:latin typeface="Helvetica" pitchFamily="2" charset="0"/>
                        </a:rPr>
                        <a:t>An Intrusion Detection System for Multi-Class Classification based on Deep Neural Networks - 2019</a:t>
                      </a:r>
                    </a:p>
                    <a:p>
                      <a:br>
                        <a:rPr lang="en-IN" sz="2400" dirty="0">
                          <a:solidFill>
                            <a:schemeClr val="tx1"/>
                          </a:solidFill>
                          <a:effectLst/>
                          <a:latin typeface="Helvetica" pitchFamily="2" charset="0"/>
                        </a:rPr>
                      </a:br>
                      <a:endParaRPr lang="en-IN" sz="2400" dirty="0">
                        <a:solidFill>
                          <a:schemeClr val="tx1"/>
                        </a:solidFill>
                        <a:effectLst/>
                        <a:latin typeface="Helvetica" pitchFamily="2" charset="0"/>
                      </a:endParaRPr>
                    </a:p>
                  </a:txBody>
                  <a:tcPr marL="0" marR="0" marT="0" marB="0"/>
                </a:tc>
                <a:tc>
                  <a:txBody>
                    <a:bodyPr/>
                    <a:lstStyle/>
                    <a:p>
                      <a:pPr algn="just"/>
                      <a:r>
                        <a:rPr lang="en-IN" sz="2400" dirty="0">
                          <a:solidFill>
                            <a:schemeClr val="tx1"/>
                          </a:solidFill>
                          <a:effectLst/>
                          <a:latin typeface="Helvetica" pitchFamily="2" charset="0"/>
                        </a:rPr>
                        <a:t>The document outlines a study on intrusion detection employing deep learning, specifically focusing on recurrent neural networks (RNN-IDS). It addresses the challenge of accurately identifying various network attacks by proposing an RNN-based model and assessing its performance in binary and multiclass classification scenarios. Through experimentation and analysis of factors like neuron count and learning rates, the document demonstrates the RNN-IDS model's superiority over traditional machine learning methods, showcasing its potential to enhance intrusion detection accuracy. Emphasizing the escalating severity of security threats and the limitations of conventional methodologies, the study underscores the relevance of deep learning, particularly RNNs, in effectively addressing the challenges of intrusion detection. Detailed descriptions of the dataset, </a:t>
                      </a:r>
                      <a:r>
                        <a:rPr lang="en-IN" sz="2400" dirty="0" err="1">
                          <a:solidFill>
                            <a:schemeClr val="tx1"/>
                          </a:solidFill>
                          <a:effectLst/>
                          <a:latin typeface="Helvetica" pitchFamily="2" charset="0"/>
                        </a:rPr>
                        <a:t>preprocessing</a:t>
                      </a:r>
                      <a:r>
                        <a:rPr lang="en-IN" sz="2400" dirty="0">
                          <a:solidFill>
                            <a:schemeClr val="tx1"/>
                          </a:solidFill>
                          <a:effectLst/>
                          <a:latin typeface="Helvetica" pitchFamily="2" charset="0"/>
                        </a:rPr>
                        <a:t> steps, methodology, and evaluation metrics are provided, alongside discussions on the implications of the research findings and future research directions, indicating the promise of the RNN-IDS model in advancing intrusion detection technology.</a:t>
                      </a:r>
                    </a:p>
                  </a:txBody>
                  <a:tcPr marL="0" marR="0" marT="0" marB="0"/>
                </a:tc>
                <a:extLst>
                  <a:ext uri="{0D108BD9-81ED-4DB2-BD59-A6C34878D82A}">
                    <a16:rowId xmlns:a16="http://schemas.microsoft.com/office/drawing/2014/main" val="10002"/>
                  </a:ext>
                </a:extLst>
              </a:tr>
              <a:tr h="3855875">
                <a:tc>
                  <a:txBody>
                    <a:bodyPr/>
                    <a:lstStyle/>
                    <a:p>
                      <a:pPr algn="r"/>
                      <a:r>
                        <a:rPr lang="en-IN" sz="2400" b="1" dirty="0">
                          <a:solidFill>
                            <a:schemeClr val="tx1"/>
                          </a:solidFill>
                          <a:effectLst/>
                          <a:latin typeface="Helvetica" pitchFamily="2" charset="0"/>
                        </a:rPr>
                        <a:t>7</a:t>
                      </a:r>
                      <a:r>
                        <a:rPr lang="en-IN" sz="2400" b="1" dirty="0">
                          <a:solidFill>
                            <a:schemeClr val="bg1"/>
                          </a:solidFill>
                          <a:effectLst/>
                          <a:latin typeface="Helvetica" pitchFamily="2" charset="0"/>
                        </a:rPr>
                        <a:t>,</a:t>
                      </a:r>
                      <a:endParaRPr lang="en-IN" sz="2400" dirty="0">
                        <a:solidFill>
                          <a:schemeClr val="tx1"/>
                        </a:solidFill>
                        <a:effectLst/>
                        <a:latin typeface="Helvetica" pitchFamily="2" charset="0"/>
                      </a:endParaRPr>
                    </a:p>
                  </a:txBody>
                  <a:tcPr marL="0" marR="0" marT="0" marB="0"/>
                </a:tc>
                <a:tc>
                  <a:txBody>
                    <a:bodyPr/>
                    <a:lstStyle/>
                    <a:p>
                      <a:pPr algn="just"/>
                      <a:r>
                        <a:rPr lang="en-IN" sz="2400" dirty="0">
                          <a:solidFill>
                            <a:schemeClr val="tx1"/>
                          </a:solidFill>
                          <a:effectLst/>
                          <a:latin typeface="Helvetica" pitchFamily="2" charset="0"/>
                        </a:rPr>
                        <a:t>Performance evaluation of deep learning techniques for DoS attacks detection in wireless sensor network - 2023</a:t>
                      </a:r>
                    </a:p>
                    <a:p>
                      <a:br>
                        <a:rPr lang="en-IN" sz="2400" dirty="0">
                          <a:solidFill>
                            <a:schemeClr val="tx1"/>
                          </a:solidFill>
                          <a:effectLst/>
                          <a:latin typeface="Helvetica" pitchFamily="2" charset="0"/>
                        </a:rPr>
                      </a:br>
                      <a:endParaRPr lang="en-IN" sz="2400" dirty="0">
                        <a:solidFill>
                          <a:schemeClr val="tx1"/>
                        </a:solidFill>
                        <a:effectLst/>
                        <a:latin typeface="Helvetica" pitchFamily="2" charset="0"/>
                      </a:endParaRPr>
                    </a:p>
                  </a:txBody>
                  <a:tcPr marL="0" marR="0" marT="0" marB="0"/>
                </a:tc>
                <a:tc>
                  <a:txBody>
                    <a:bodyPr/>
                    <a:lstStyle/>
                    <a:p>
                      <a:pPr algn="just"/>
                      <a:r>
                        <a:rPr lang="en-IN" sz="2400" dirty="0">
                          <a:solidFill>
                            <a:schemeClr val="tx1"/>
                          </a:solidFill>
                          <a:effectLst/>
                          <a:latin typeface="Helvetica" pitchFamily="2" charset="0"/>
                        </a:rPr>
                        <a:t>The document introduces a novel intrusion detection system tailored for identifying and detecting intruders within wireless networks by combining a newly proposed feature selection algorithm, Conditional Random Field and Linear Correlation Coefficient-Based Feature Selection (CRF-LCFS), with Convolutional Neural Network (CNN) classification. This system aims to bolster data communication security by effectively pinpointing intruders in wireless networks. Leveraging the KDD 99 Cup dataset, the CRF-LCFS algorithm selects the most relevant features, employing Euclidean distance measurement and CRF to group features based on correlation coefficient values. Experimental results showcase the system's efficacy, achieving an impressive detection accuracy of 98.8% when integrated with CNN, outperforming existing intrusion detection systems across various attack types. </a:t>
                      </a:r>
                    </a:p>
                  </a:txBody>
                  <a:tcPr marL="0" marR="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5877550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Objectives"/>
          <p:cNvSpPr txBox="1">
            <a:spLocks noGrp="1"/>
          </p:cNvSpPr>
          <p:nvPr>
            <p:ph type="title"/>
          </p:nvPr>
        </p:nvSpPr>
        <p:spPr>
          <a:xfrm>
            <a:off x="1206500" y="301640"/>
            <a:ext cx="21031200" cy="2651126"/>
          </a:xfrm>
          <a:prstGeom prst="rect">
            <a:avLst/>
          </a:prstGeom>
        </p:spPr>
        <p:txBody>
          <a:bodyPr/>
          <a:lstStyle/>
          <a:p>
            <a:r>
              <a:rPr b="1" dirty="0">
                <a:latin typeface="Helvetica" pitchFamily="2" charset="0"/>
              </a:rPr>
              <a:t>Objectives</a:t>
            </a:r>
          </a:p>
        </p:txBody>
      </p:sp>
      <p:sp>
        <p:nvSpPr>
          <p:cNvPr id="191" name="To create a Network Intrusion Detection System using Deep Learning Models.…"/>
          <p:cNvSpPr txBox="1">
            <a:spLocks noGrp="1"/>
          </p:cNvSpPr>
          <p:nvPr>
            <p:ph type="body" idx="1"/>
          </p:nvPr>
        </p:nvSpPr>
        <p:spPr>
          <a:xfrm>
            <a:off x="1206500" y="2952766"/>
            <a:ext cx="21971000" cy="9551750"/>
          </a:xfrm>
          <a:prstGeom prst="rect">
            <a:avLst/>
          </a:prstGeom>
        </p:spPr>
        <p:txBody>
          <a:bodyPr/>
          <a:lstStyle/>
          <a:p>
            <a:r>
              <a:rPr dirty="0">
                <a:latin typeface="Helvetica" pitchFamily="2" charset="0"/>
              </a:rPr>
              <a:t>To create a Network Intrusion Detection System using Deep</a:t>
            </a:r>
            <a:r>
              <a:rPr lang="en-US" dirty="0">
                <a:latin typeface="Helvetica" pitchFamily="2" charset="0"/>
              </a:rPr>
              <a:t> </a:t>
            </a:r>
            <a:r>
              <a:rPr dirty="0">
                <a:latin typeface="Helvetica" pitchFamily="2" charset="0"/>
              </a:rPr>
              <a:t>Learning </a:t>
            </a:r>
            <a:r>
              <a:rPr lang="en-US" dirty="0">
                <a:latin typeface="Helvetica" pitchFamily="2" charset="0"/>
              </a:rPr>
              <a:t>m</a:t>
            </a:r>
            <a:r>
              <a:rPr dirty="0">
                <a:latin typeface="Helvetica" pitchFamily="2" charset="0"/>
              </a:rPr>
              <a:t>odels.</a:t>
            </a:r>
          </a:p>
          <a:p>
            <a:r>
              <a:rPr dirty="0">
                <a:latin typeface="Helvetica" pitchFamily="2" charset="0"/>
              </a:rPr>
              <a:t>To </a:t>
            </a:r>
            <a:r>
              <a:rPr lang="en-US" dirty="0">
                <a:latin typeface="Helvetica" pitchFamily="2" charset="0"/>
              </a:rPr>
              <a:t>increase the accuracy of NIDS using the models.</a:t>
            </a:r>
            <a:endParaRPr dirty="0">
              <a:latin typeface="Helvetica" pitchFamily="2" charset="0"/>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Dataset: NSL-KDD"/>
          <p:cNvSpPr txBox="1">
            <a:spLocks noGrp="1"/>
          </p:cNvSpPr>
          <p:nvPr>
            <p:ph type="title"/>
          </p:nvPr>
        </p:nvSpPr>
        <p:spPr>
          <a:xfrm>
            <a:off x="1206500" y="2169237"/>
            <a:ext cx="21971000" cy="1433164"/>
          </a:xfrm>
          <a:prstGeom prst="rect">
            <a:avLst/>
          </a:prstGeom>
        </p:spPr>
        <p:txBody>
          <a:bodyPr/>
          <a:lstStyle>
            <a:lvl1pPr>
              <a:defRPr sz="7000" spc="-140"/>
            </a:lvl1pPr>
          </a:lstStyle>
          <a:p>
            <a:r>
              <a:rPr b="1" dirty="0">
                <a:latin typeface="Helvetica" pitchFamily="2" charset="0"/>
              </a:rPr>
              <a:t>Dataset: NSL-KDD</a:t>
            </a:r>
          </a:p>
        </p:txBody>
      </p:sp>
      <p:sp>
        <p:nvSpPr>
          <p:cNvPr id="194" name="The dataset used for intrusion detection research is an improved version of the KDDCup 99 data set, which was widely used as one of the few publicly available data sets for evaluating intrusion detection systems (IDSs) until the release of the NSL-KDD da"/>
          <p:cNvSpPr txBox="1">
            <a:spLocks noGrp="1"/>
          </p:cNvSpPr>
          <p:nvPr>
            <p:ph type="body" idx="1"/>
          </p:nvPr>
        </p:nvSpPr>
        <p:spPr>
          <a:xfrm>
            <a:off x="1206500" y="4259501"/>
            <a:ext cx="21971000" cy="8256012"/>
          </a:xfrm>
          <a:prstGeom prst="rect">
            <a:avLst/>
          </a:prstGeom>
        </p:spPr>
        <p:txBody>
          <a:bodyPr>
            <a:normAutofit/>
          </a:bodyPr>
          <a:lstStyle/>
          <a:p>
            <a:pPr marL="542544" indent="-542544" algn="just" defTabSz="2170121">
              <a:spcBef>
                <a:spcPts val="4000"/>
              </a:spcBef>
              <a:defRPr sz="4272"/>
            </a:pPr>
            <a:r>
              <a:rPr dirty="0">
                <a:latin typeface="Helvetica" pitchFamily="2" charset="0"/>
              </a:rPr>
              <a:t>The dataset used for intrusion detection research is an improved version of the KDD</a:t>
            </a:r>
            <a:r>
              <a:rPr lang="en-US" dirty="0">
                <a:latin typeface="Helvetica" pitchFamily="2" charset="0"/>
              </a:rPr>
              <a:t> </a:t>
            </a:r>
            <a:r>
              <a:rPr dirty="0">
                <a:latin typeface="Helvetica" pitchFamily="2" charset="0"/>
              </a:rPr>
              <a:t>Cup 99 data set, which was widely used as one of the few publicly available data sets for evaluating intrusion detection systems (IDSs) until the release of the NSL-KDD data set</a:t>
            </a:r>
            <a:r>
              <a:rPr lang="en-US" dirty="0">
                <a:latin typeface="Helvetica" pitchFamily="2" charset="0"/>
              </a:rPr>
              <a:t>.</a:t>
            </a:r>
          </a:p>
          <a:p>
            <a:pPr marL="542544" indent="-542544" algn="just" defTabSz="2170121">
              <a:spcBef>
                <a:spcPts val="4000"/>
              </a:spcBef>
              <a:defRPr sz="4272"/>
            </a:pPr>
            <a:r>
              <a:rPr dirty="0">
                <a:latin typeface="Helvetica" pitchFamily="2" charset="0"/>
              </a:rPr>
              <a:t>The NSL-KDD data set has been preprocessed to eliminate redundancy and inconsistency in the original </a:t>
            </a:r>
            <a:r>
              <a:rPr dirty="0" err="1">
                <a:latin typeface="Helvetica" pitchFamily="2" charset="0"/>
              </a:rPr>
              <a:t>KDDCup</a:t>
            </a:r>
            <a:r>
              <a:rPr dirty="0">
                <a:latin typeface="Helvetica" pitchFamily="2" charset="0"/>
              </a:rPr>
              <a:t> 99 data set.</a:t>
            </a:r>
          </a:p>
          <a:p>
            <a:pPr marL="542544" indent="-542544" algn="just" defTabSz="2170121">
              <a:spcBef>
                <a:spcPts val="4000"/>
              </a:spcBef>
              <a:defRPr sz="4272"/>
            </a:pPr>
            <a:r>
              <a:rPr dirty="0">
                <a:latin typeface="Helvetica" pitchFamily="2" charset="0"/>
              </a:rPr>
              <a:t>It contains 41 features and a class label indicating whether a network connection is normal or an attack.</a:t>
            </a:r>
          </a:p>
        </p:txBody>
      </p:sp>
      <p:sp>
        <p:nvSpPr>
          <p:cNvPr id="195" name="Methodology"/>
          <p:cNvSpPr txBox="1"/>
          <p:nvPr/>
        </p:nvSpPr>
        <p:spPr>
          <a:xfrm>
            <a:off x="1206500" y="736073"/>
            <a:ext cx="21971000" cy="1433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a:lnSpc>
                <a:spcPct val="80000"/>
              </a:lnSpc>
              <a:spcBef>
                <a:spcPts val="0"/>
              </a:spcBef>
              <a:defRPr sz="8500" b="1" spc="-170"/>
            </a:lvl1pPr>
          </a:lstStyle>
          <a:p>
            <a:r>
              <a:rPr dirty="0">
                <a:latin typeface="Helvetica" pitchFamily="2" charset="0"/>
              </a:rPr>
              <a:t>Methodology</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89588C-EE4D-44F6-9719-11601C4D9D1F}"/>
              </a:ext>
            </a:extLst>
          </p:cNvPr>
          <p:cNvSpPr>
            <a:spLocks noGrp="1"/>
          </p:cNvSpPr>
          <p:nvPr>
            <p:ph type="body" idx="1"/>
          </p:nvPr>
        </p:nvSpPr>
        <p:spPr>
          <a:xfrm>
            <a:off x="1488558" y="1020726"/>
            <a:ext cx="21219042" cy="11333200"/>
          </a:xfrm>
        </p:spPr>
        <p:txBody>
          <a:bodyPr/>
          <a:lstStyle/>
          <a:p>
            <a:r>
              <a:rPr lang="en-IN" dirty="0">
                <a:latin typeface="Helvetica" pitchFamily="2" charset="0"/>
              </a:rPr>
              <a:t>The data set consists of a training set of 125,973 instances and a test set of 22,544 instances.</a:t>
            </a:r>
          </a:p>
        </p:txBody>
      </p:sp>
      <p:pic>
        <p:nvPicPr>
          <p:cNvPr id="5" name="Picture 4" descr="A screenshot of a computer&#10;&#10;Description automatically generated">
            <a:extLst>
              <a:ext uri="{FF2B5EF4-FFF2-40B4-BE49-F238E27FC236}">
                <a16:creationId xmlns:a16="http://schemas.microsoft.com/office/drawing/2014/main" id="{59836FCE-6DD2-15F4-851A-46857B9A6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442181"/>
            <a:ext cx="18228058" cy="3245145"/>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36C52DBF-973E-DE7A-9579-D8494AE6DAE5}"/>
              </a:ext>
            </a:extLst>
          </p:cNvPr>
          <p:cNvPicPr>
            <a:picLocks noChangeAspect="1"/>
          </p:cNvPicPr>
          <p:nvPr/>
        </p:nvPicPr>
        <p:blipFill rotWithShape="1">
          <a:blip r:embed="rId3">
            <a:extLst>
              <a:ext uri="{28A0092B-C50C-407E-A947-70E740481C1C}">
                <a14:useLocalDpi xmlns:a14="http://schemas.microsoft.com/office/drawing/2010/main" val="0"/>
              </a:ext>
            </a:extLst>
          </a:blip>
          <a:srcRect t="9904"/>
          <a:stretch/>
        </p:blipFill>
        <p:spPr>
          <a:xfrm>
            <a:off x="2647950" y="7785483"/>
            <a:ext cx="8537502" cy="2963305"/>
          </a:xfrm>
          <a:prstGeom prst="rect">
            <a:avLst/>
          </a:prstGeom>
        </p:spPr>
      </p:pic>
    </p:spTree>
    <p:extLst>
      <p:ext uri="{BB962C8B-B14F-4D97-AF65-F5344CB8AC3E}">
        <p14:creationId xmlns:p14="http://schemas.microsoft.com/office/powerpoint/2010/main" val="272224363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Binary and Multi-class Classification of attacks"/>
          <p:cNvSpPr txBox="1">
            <a:spLocks noGrp="1"/>
          </p:cNvSpPr>
          <p:nvPr>
            <p:ph type="title"/>
          </p:nvPr>
        </p:nvSpPr>
        <p:spPr>
          <a:xfrm>
            <a:off x="1146285" y="451713"/>
            <a:ext cx="22194253" cy="2651126"/>
          </a:xfrm>
          <a:prstGeom prst="rect">
            <a:avLst/>
          </a:prstGeom>
        </p:spPr>
        <p:txBody>
          <a:bodyPr>
            <a:normAutofit/>
          </a:bodyPr>
          <a:lstStyle>
            <a:lvl1pPr defTabSz="2292038">
              <a:defRPr sz="7990" spc="-159"/>
            </a:lvl1pPr>
          </a:lstStyle>
          <a:p>
            <a:r>
              <a:rPr b="1" dirty="0">
                <a:latin typeface="Helvetica" pitchFamily="2" charset="0"/>
              </a:rPr>
              <a:t>Binary and Multi-class Classification of attacks</a:t>
            </a:r>
          </a:p>
        </p:txBody>
      </p:sp>
      <p:pic>
        <p:nvPicPr>
          <p:cNvPr id="210" name="Pie_chart_binary.png" descr="Pie_chart_binary.png"/>
          <p:cNvPicPr>
            <a:picLocks noChangeAspect="1"/>
          </p:cNvPicPr>
          <p:nvPr/>
        </p:nvPicPr>
        <p:blipFill>
          <a:blip r:embed="rId2"/>
          <a:stretch>
            <a:fillRect/>
          </a:stretch>
        </p:blipFill>
        <p:spPr>
          <a:xfrm>
            <a:off x="1146285" y="3104286"/>
            <a:ext cx="10160001" cy="10160001"/>
          </a:xfrm>
          <a:prstGeom prst="rect">
            <a:avLst/>
          </a:prstGeom>
          <a:ln w="12700">
            <a:miter lim="400000"/>
          </a:ln>
        </p:spPr>
      </p:pic>
      <p:pic>
        <p:nvPicPr>
          <p:cNvPr id="211" name="Pie_chart_multi.png" descr="Pie_chart_multi.png"/>
          <p:cNvPicPr>
            <a:picLocks noChangeAspect="1"/>
          </p:cNvPicPr>
          <p:nvPr/>
        </p:nvPicPr>
        <p:blipFill>
          <a:blip r:embed="rId3"/>
          <a:stretch>
            <a:fillRect/>
          </a:stretch>
        </p:blipFill>
        <p:spPr>
          <a:xfrm>
            <a:off x="12582861" y="3102839"/>
            <a:ext cx="10160001" cy="10160001"/>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2437D-9F22-CC28-24D3-E9F147BFA63D}"/>
              </a:ext>
            </a:extLst>
          </p:cNvPr>
          <p:cNvSpPr>
            <a:spLocks noGrp="1"/>
          </p:cNvSpPr>
          <p:nvPr>
            <p:ph type="title"/>
          </p:nvPr>
        </p:nvSpPr>
        <p:spPr>
          <a:xfrm>
            <a:off x="783265" y="347479"/>
            <a:ext cx="10515600" cy="2651126"/>
          </a:xfrm>
        </p:spPr>
        <p:txBody>
          <a:bodyPr/>
          <a:lstStyle/>
          <a:p>
            <a:r>
              <a:rPr lang="en-US" b="1" dirty="0">
                <a:latin typeface="Helvetica" pitchFamily="2" charset="0"/>
              </a:rPr>
              <a:t>Workflow</a:t>
            </a:r>
          </a:p>
        </p:txBody>
      </p:sp>
      <p:pic>
        <p:nvPicPr>
          <p:cNvPr id="5" name="Picture 4" descr="A diagram of a data processing process&#10;&#10;Description automatically generated">
            <a:extLst>
              <a:ext uri="{FF2B5EF4-FFF2-40B4-BE49-F238E27FC236}">
                <a16:creationId xmlns:a16="http://schemas.microsoft.com/office/drawing/2014/main" id="{79B20C6A-AADC-4127-3DB9-3B024B0ED6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8060" y="0"/>
            <a:ext cx="6687880" cy="13717345"/>
          </a:xfrm>
          <a:prstGeom prst="rect">
            <a:avLst/>
          </a:prstGeom>
        </p:spPr>
      </p:pic>
    </p:spTree>
    <p:extLst>
      <p:ext uri="{BB962C8B-B14F-4D97-AF65-F5344CB8AC3E}">
        <p14:creationId xmlns:p14="http://schemas.microsoft.com/office/powerpoint/2010/main" val="286001877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Multi-Layer Perceptron"/>
          <p:cNvSpPr txBox="1">
            <a:spLocks noGrp="1"/>
          </p:cNvSpPr>
          <p:nvPr>
            <p:ph type="title"/>
          </p:nvPr>
        </p:nvSpPr>
        <p:spPr>
          <a:xfrm>
            <a:off x="1459831" y="221791"/>
            <a:ext cx="21031200" cy="2651126"/>
          </a:xfrm>
          <a:prstGeom prst="rect">
            <a:avLst/>
          </a:prstGeom>
        </p:spPr>
        <p:txBody>
          <a:bodyPr/>
          <a:lstStyle/>
          <a:p>
            <a:r>
              <a:rPr b="1" dirty="0">
                <a:latin typeface="Helvetica" pitchFamily="2" charset="0"/>
              </a:rPr>
              <a:t>Multi-Layer Perceptron</a:t>
            </a:r>
          </a:p>
        </p:txBody>
      </p:sp>
      <p:sp>
        <p:nvSpPr>
          <p:cNvPr id="201" name="MLP is a type of artificial neural network that consists of multiple layers of interconnected neurons, where each neuron takes the weighted sum of its inputs, applies an activation function, and passes its output to the next layer.…"/>
          <p:cNvSpPr txBox="1">
            <a:spLocks noGrp="1"/>
          </p:cNvSpPr>
          <p:nvPr>
            <p:ph type="body" idx="1"/>
          </p:nvPr>
        </p:nvSpPr>
        <p:spPr>
          <a:xfrm>
            <a:off x="1206500" y="2729994"/>
            <a:ext cx="21971000" cy="9438652"/>
          </a:xfrm>
          <a:prstGeom prst="rect">
            <a:avLst/>
          </a:prstGeom>
        </p:spPr>
        <p:txBody>
          <a:bodyPr/>
          <a:lstStyle/>
          <a:p>
            <a:pPr algn="just">
              <a:buSzPct val="125000"/>
            </a:pPr>
            <a:r>
              <a:rPr dirty="0">
                <a:latin typeface="Helvetica" pitchFamily="2" charset="0"/>
              </a:rPr>
              <a:t>MLP is a type of artificial neural network that consists of multiple layers of interconnected neurons, where each neuron takes the weighted sum of its inputs, applies an activation function, and passes its output to the next layer.</a:t>
            </a:r>
          </a:p>
          <a:p>
            <a:pPr algn="just">
              <a:buSzPct val="125000"/>
            </a:pPr>
            <a:r>
              <a:rPr dirty="0">
                <a:latin typeface="Helvetica" pitchFamily="2" charset="0"/>
              </a:rPr>
              <a:t>﻿﻿MLP can be tuned by adjusting various hyper-parameters such as the number of hidden layers, the number of neurons per layer, the activation function, the optimizer, the learning rate, and the regularization strength.</a:t>
            </a:r>
          </a:p>
          <a:p>
            <a:pPr algn="just">
              <a:buSzPct val="125000"/>
            </a:pPr>
            <a:r>
              <a:rPr dirty="0">
                <a:latin typeface="Helvetica" pitchFamily="2" charset="0"/>
              </a:rPr>
              <a:t>﻿﻿MLP can be regularized using various techniques such as dropout, weight decay, or early stopping to prevent overfitting and improve generalization performance.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3" name="pasted-movie.png" descr="pasted-movie.png"/>
          <p:cNvPicPr>
            <a:picLocks noChangeAspect="1"/>
          </p:cNvPicPr>
          <p:nvPr/>
        </p:nvPicPr>
        <p:blipFill>
          <a:blip r:embed="rId2"/>
          <a:stretch>
            <a:fillRect/>
          </a:stretch>
        </p:blipFill>
        <p:spPr>
          <a:xfrm>
            <a:off x="5151467" y="2969854"/>
            <a:ext cx="14468468" cy="7841188"/>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Auto Encoders"/>
          <p:cNvSpPr txBox="1">
            <a:spLocks noGrp="1"/>
          </p:cNvSpPr>
          <p:nvPr>
            <p:ph type="title"/>
          </p:nvPr>
        </p:nvSpPr>
        <p:spPr>
          <a:xfrm>
            <a:off x="1206500" y="591306"/>
            <a:ext cx="21031200" cy="2651126"/>
          </a:xfrm>
          <a:prstGeom prst="rect">
            <a:avLst/>
          </a:prstGeom>
        </p:spPr>
        <p:txBody>
          <a:bodyPr/>
          <a:lstStyle/>
          <a:p>
            <a:r>
              <a:rPr b="1" dirty="0">
                <a:latin typeface="Helvetica" pitchFamily="2" charset="0"/>
              </a:rPr>
              <a:t>Auto Encoders</a:t>
            </a:r>
          </a:p>
        </p:txBody>
      </p:sp>
      <p:sp>
        <p:nvSpPr>
          <p:cNvPr id="198" name="Slide bullet text"/>
          <p:cNvSpPr txBox="1">
            <a:spLocks noGrp="1"/>
          </p:cNvSpPr>
          <p:nvPr>
            <p:ph type="body" idx="1"/>
          </p:nvPr>
        </p:nvSpPr>
        <p:spPr>
          <a:xfrm>
            <a:off x="1206500" y="2959342"/>
            <a:ext cx="21971000" cy="9545174"/>
          </a:xfrm>
          <a:prstGeom prst="rect">
            <a:avLst/>
          </a:prstGeom>
        </p:spPr>
        <p:txBody>
          <a:bodyPr>
            <a:normAutofit lnSpcReduction="10000"/>
          </a:bodyPr>
          <a:lstStyle/>
          <a:p>
            <a:pPr algn="just"/>
            <a:r>
              <a:rPr lang="en-IN" i="0" dirty="0">
                <a:solidFill>
                  <a:schemeClr val="tx1"/>
                </a:solidFill>
                <a:effectLst/>
                <a:latin typeface="Helvetica" pitchFamily="2" charset="0"/>
              </a:rPr>
              <a:t>Autoencoders are a specialized class of algorithms that can learn efficient representations of input data with no need for labels. It is a class of artificial neural networks designed for unsupervised learning.</a:t>
            </a:r>
            <a:endParaRPr lang="en-IN" dirty="0"/>
          </a:p>
          <a:p>
            <a:pPr algn="just"/>
            <a:r>
              <a:rPr lang="en-IN" i="0" dirty="0">
                <a:solidFill>
                  <a:schemeClr val="tx1"/>
                </a:solidFill>
                <a:effectLst/>
                <a:latin typeface="Helvetica" pitchFamily="2" charset="0"/>
              </a:rPr>
              <a:t>Learning to compress and effectively represent input data without specific labels is the essential principle of an automatic decoder. This is accomplished using a two-fold structure that consists of an encoder and a decoder. </a:t>
            </a:r>
          </a:p>
          <a:p>
            <a:pPr algn="just"/>
            <a:r>
              <a:rPr lang="en-IN" i="0" dirty="0">
                <a:solidFill>
                  <a:schemeClr val="tx1"/>
                </a:solidFill>
                <a:effectLst/>
                <a:latin typeface="Helvetica" pitchFamily="2" charset="0"/>
              </a:rPr>
              <a:t>The encoder transforms the input data into a reduced-dimensional representation, which is often referred to as “latent space” or “encoding”. From that representation, a decoder rebuilds the initial input.</a:t>
            </a:r>
            <a:endParaRPr dirty="0">
              <a:solidFill>
                <a:schemeClr val="tx1"/>
              </a:solidFill>
              <a:latin typeface="Helvetica" pitchFamily="2" charset="0"/>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utoencoder in Deep Learning">
            <a:extLst>
              <a:ext uri="{FF2B5EF4-FFF2-40B4-BE49-F238E27FC236}">
                <a16:creationId xmlns:a16="http://schemas.microsoft.com/office/drawing/2014/main" id="{8F9C4DDB-36AA-36EA-B4E1-990485805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554" y="1947365"/>
            <a:ext cx="10074645" cy="8880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056210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Results of Multi-Layer Perceptron"/>
          <p:cNvSpPr txBox="1">
            <a:spLocks noGrp="1"/>
          </p:cNvSpPr>
          <p:nvPr>
            <p:ph type="title"/>
          </p:nvPr>
        </p:nvSpPr>
        <p:spPr>
          <a:xfrm>
            <a:off x="973644" y="668591"/>
            <a:ext cx="21971001" cy="1433164"/>
          </a:xfrm>
          <a:prstGeom prst="rect">
            <a:avLst/>
          </a:prstGeom>
        </p:spPr>
        <p:txBody>
          <a:bodyPr>
            <a:normAutofit/>
          </a:bodyPr>
          <a:lstStyle/>
          <a:p>
            <a:r>
              <a:rPr b="1" dirty="0">
                <a:latin typeface="Helvetica" pitchFamily="2" charset="0"/>
              </a:rPr>
              <a:t>Results of Multi-Layer Perceptron</a:t>
            </a:r>
          </a:p>
        </p:txBody>
      </p:sp>
      <p:pic>
        <p:nvPicPr>
          <p:cNvPr id="2" name="Picture 1">
            <a:extLst>
              <a:ext uri="{FF2B5EF4-FFF2-40B4-BE49-F238E27FC236}">
                <a16:creationId xmlns:a16="http://schemas.microsoft.com/office/drawing/2014/main" id="{034E9782-26A2-A308-02AF-501E361D09B3}"/>
              </a:ext>
            </a:extLst>
          </p:cNvPr>
          <p:cNvPicPr>
            <a:picLocks noChangeAspect="1"/>
          </p:cNvPicPr>
          <p:nvPr/>
        </p:nvPicPr>
        <p:blipFill>
          <a:blip r:embed="rId2"/>
          <a:stretch>
            <a:fillRect/>
          </a:stretch>
        </p:blipFill>
        <p:spPr>
          <a:xfrm>
            <a:off x="1162492" y="2603202"/>
            <a:ext cx="7397626" cy="5805082"/>
          </a:xfrm>
          <a:prstGeom prst="rect">
            <a:avLst/>
          </a:prstGeom>
        </p:spPr>
      </p:pic>
      <p:pic>
        <p:nvPicPr>
          <p:cNvPr id="3" name="Picture 2">
            <a:extLst>
              <a:ext uri="{FF2B5EF4-FFF2-40B4-BE49-F238E27FC236}">
                <a16:creationId xmlns:a16="http://schemas.microsoft.com/office/drawing/2014/main" id="{3A58FEB4-5053-6535-5FD6-119C8D6E38C2}"/>
              </a:ext>
            </a:extLst>
          </p:cNvPr>
          <p:cNvPicPr>
            <a:picLocks noChangeAspect="1"/>
          </p:cNvPicPr>
          <p:nvPr/>
        </p:nvPicPr>
        <p:blipFill>
          <a:blip r:embed="rId3"/>
          <a:stretch>
            <a:fillRect/>
          </a:stretch>
        </p:blipFill>
        <p:spPr>
          <a:xfrm>
            <a:off x="9579022" y="2603202"/>
            <a:ext cx="7269196" cy="5805082"/>
          </a:xfrm>
          <a:prstGeom prst="rect">
            <a:avLst/>
          </a:prstGeom>
        </p:spPr>
      </p:pic>
      <p:pic>
        <p:nvPicPr>
          <p:cNvPr id="4" name="Picture 3">
            <a:extLst>
              <a:ext uri="{FF2B5EF4-FFF2-40B4-BE49-F238E27FC236}">
                <a16:creationId xmlns:a16="http://schemas.microsoft.com/office/drawing/2014/main" id="{BA09008A-4113-3B8B-0FF8-737ADE279C76}"/>
              </a:ext>
            </a:extLst>
          </p:cNvPr>
          <p:cNvPicPr>
            <a:picLocks noChangeAspect="1"/>
          </p:cNvPicPr>
          <p:nvPr/>
        </p:nvPicPr>
        <p:blipFill>
          <a:blip r:embed="rId4"/>
          <a:stretch>
            <a:fillRect/>
          </a:stretch>
        </p:blipFill>
        <p:spPr>
          <a:xfrm>
            <a:off x="18568582" y="2603202"/>
            <a:ext cx="4652926" cy="6063654"/>
          </a:xfrm>
          <a:prstGeom prst="rect">
            <a:avLst/>
          </a:prstGeom>
        </p:spPr>
      </p:pic>
      <p:pic>
        <p:nvPicPr>
          <p:cNvPr id="6" name="Picture 5">
            <a:extLst>
              <a:ext uri="{FF2B5EF4-FFF2-40B4-BE49-F238E27FC236}">
                <a16:creationId xmlns:a16="http://schemas.microsoft.com/office/drawing/2014/main" id="{1DE4027D-C1A4-6D9E-9E18-459170881B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2492" y="9884885"/>
            <a:ext cx="21593306" cy="1227913"/>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09B1A-9F97-C4BE-8A2B-561646AE7F2D}"/>
              </a:ext>
            </a:extLst>
          </p:cNvPr>
          <p:cNvSpPr>
            <a:spLocks noGrp="1"/>
          </p:cNvSpPr>
          <p:nvPr>
            <p:ph type="title"/>
          </p:nvPr>
        </p:nvSpPr>
        <p:spPr>
          <a:xfrm>
            <a:off x="1581151" y="486498"/>
            <a:ext cx="21031200" cy="2651126"/>
          </a:xfrm>
        </p:spPr>
        <p:txBody>
          <a:bodyPr/>
          <a:lstStyle/>
          <a:p>
            <a:r>
              <a:rPr lang="en-US" b="1" dirty="0">
                <a:latin typeface="Helvetica" pitchFamily="2" charset="0"/>
              </a:rPr>
              <a:t>Results of Multi-Layer Perceptron</a:t>
            </a:r>
          </a:p>
        </p:txBody>
      </p:sp>
      <p:pic>
        <p:nvPicPr>
          <p:cNvPr id="7" name="Picture 6">
            <a:extLst>
              <a:ext uri="{FF2B5EF4-FFF2-40B4-BE49-F238E27FC236}">
                <a16:creationId xmlns:a16="http://schemas.microsoft.com/office/drawing/2014/main" id="{EB9B097A-7194-4A1F-E580-9F3C16E3B490}"/>
              </a:ext>
            </a:extLst>
          </p:cNvPr>
          <p:cNvPicPr>
            <a:picLocks noChangeAspect="1"/>
          </p:cNvPicPr>
          <p:nvPr/>
        </p:nvPicPr>
        <p:blipFill>
          <a:blip r:embed="rId2"/>
          <a:stretch>
            <a:fillRect/>
          </a:stretch>
        </p:blipFill>
        <p:spPr>
          <a:xfrm>
            <a:off x="1206500" y="3137624"/>
            <a:ext cx="6851650" cy="5376642"/>
          </a:xfrm>
          <a:prstGeom prst="rect">
            <a:avLst/>
          </a:prstGeom>
        </p:spPr>
      </p:pic>
      <p:pic>
        <p:nvPicPr>
          <p:cNvPr id="8" name="Picture 7">
            <a:extLst>
              <a:ext uri="{FF2B5EF4-FFF2-40B4-BE49-F238E27FC236}">
                <a16:creationId xmlns:a16="http://schemas.microsoft.com/office/drawing/2014/main" id="{2435E0A0-9069-8E35-21F1-380129B5F3A6}"/>
              </a:ext>
            </a:extLst>
          </p:cNvPr>
          <p:cNvPicPr>
            <a:picLocks noChangeAspect="1"/>
          </p:cNvPicPr>
          <p:nvPr/>
        </p:nvPicPr>
        <p:blipFill>
          <a:blip r:embed="rId3"/>
          <a:stretch>
            <a:fillRect/>
          </a:stretch>
        </p:blipFill>
        <p:spPr>
          <a:xfrm>
            <a:off x="9501813" y="3160425"/>
            <a:ext cx="6732699" cy="5376643"/>
          </a:xfrm>
          <a:prstGeom prst="rect">
            <a:avLst/>
          </a:prstGeom>
        </p:spPr>
      </p:pic>
      <p:pic>
        <p:nvPicPr>
          <p:cNvPr id="9" name="Picture 8">
            <a:extLst>
              <a:ext uri="{FF2B5EF4-FFF2-40B4-BE49-F238E27FC236}">
                <a16:creationId xmlns:a16="http://schemas.microsoft.com/office/drawing/2014/main" id="{061F8C70-DDB3-4DFF-C876-35899F6DC89F}"/>
              </a:ext>
            </a:extLst>
          </p:cNvPr>
          <p:cNvPicPr>
            <a:picLocks noChangeAspect="1"/>
          </p:cNvPicPr>
          <p:nvPr/>
        </p:nvPicPr>
        <p:blipFill>
          <a:blip r:embed="rId4"/>
          <a:stretch>
            <a:fillRect/>
          </a:stretch>
        </p:blipFill>
        <p:spPr>
          <a:xfrm>
            <a:off x="17678176" y="3137624"/>
            <a:ext cx="5124673" cy="10083140"/>
          </a:xfrm>
          <a:prstGeom prst="rect">
            <a:avLst/>
          </a:prstGeom>
        </p:spPr>
      </p:pic>
      <p:pic>
        <p:nvPicPr>
          <p:cNvPr id="11" name="Picture 10">
            <a:extLst>
              <a:ext uri="{FF2B5EF4-FFF2-40B4-BE49-F238E27FC236}">
                <a16:creationId xmlns:a16="http://schemas.microsoft.com/office/drawing/2014/main" id="{DC1CF070-60C4-8322-0215-C657A5BC42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6500" y="9149464"/>
            <a:ext cx="15299284" cy="1057792"/>
          </a:xfrm>
          <a:prstGeom prst="rect">
            <a:avLst/>
          </a:prstGeom>
        </p:spPr>
      </p:pic>
    </p:spTree>
    <p:extLst>
      <p:ext uri="{BB962C8B-B14F-4D97-AF65-F5344CB8AC3E}">
        <p14:creationId xmlns:p14="http://schemas.microsoft.com/office/powerpoint/2010/main" val="1316609024"/>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CFA08-74BA-CEB3-CB02-A806AF19FC7A}"/>
              </a:ext>
            </a:extLst>
          </p:cNvPr>
          <p:cNvSpPr>
            <a:spLocks noGrp="1"/>
          </p:cNvSpPr>
          <p:nvPr>
            <p:ph type="title"/>
          </p:nvPr>
        </p:nvSpPr>
        <p:spPr>
          <a:xfrm>
            <a:off x="1206499" y="1181100"/>
            <a:ext cx="21971000" cy="1435100"/>
          </a:xfrm>
        </p:spPr>
        <p:txBody>
          <a:bodyPr>
            <a:normAutofit/>
          </a:bodyPr>
          <a:lstStyle/>
          <a:p>
            <a:r>
              <a:rPr lang="en-US" b="1" dirty="0">
                <a:latin typeface="Helvetica" pitchFamily="2" charset="0"/>
              </a:rPr>
              <a:t>Results of Autoencoder	</a:t>
            </a:r>
          </a:p>
        </p:txBody>
      </p:sp>
      <p:pic>
        <p:nvPicPr>
          <p:cNvPr id="7" name="Picture 6" descr="A graph with blue and orange lines&#10;&#10;Description automatically generated">
            <a:extLst>
              <a:ext uri="{FF2B5EF4-FFF2-40B4-BE49-F238E27FC236}">
                <a16:creationId xmlns:a16="http://schemas.microsoft.com/office/drawing/2014/main" id="{390520A3-0D3E-8993-7965-4AF9CAA15F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500" y="2950577"/>
            <a:ext cx="7639788" cy="5670420"/>
          </a:xfrm>
          <a:prstGeom prst="rect">
            <a:avLst/>
          </a:prstGeom>
        </p:spPr>
      </p:pic>
      <p:pic>
        <p:nvPicPr>
          <p:cNvPr id="9" name="Picture 8" descr="A graph with blue and orange lines&#10;&#10;Description automatically generated">
            <a:extLst>
              <a:ext uri="{FF2B5EF4-FFF2-40B4-BE49-F238E27FC236}">
                <a16:creationId xmlns:a16="http://schemas.microsoft.com/office/drawing/2014/main" id="{9259F23D-5D6E-FA2B-3D84-661A4597EE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9168" y="2970115"/>
            <a:ext cx="7364835" cy="5670420"/>
          </a:xfrm>
          <a:prstGeom prst="rect">
            <a:avLst/>
          </a:prstGeom>
        </p:spPr>
      </p:pic>
      <p:pic>
        <p:nvPicPr>
          <p:cNvPr id="11" name="Picture 10" descr="A diagram of a function&#10;&#10;Description automatically generated">
            <a:extLst>
              <a:ext uri="{FF2B5EF4-FFF2-40B4-BE49-F238E27FC236}">
                <a16:creationId xmlns:a16="http://schemas.microsoft.com/office/drawing/2014/main" id="{0A1610B8-95AC-406E-D39A-DC5A996A79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16883" y="3000126"/>
            <a:ext cx="5532754" cy="5654086"/>
          </a:xfrm>
          <a:prstGeom prst="rect">
            <a:avLst/>
          </a:prstGeom>
        </p:spPr>
      </p:pic>
      <p:pic>
        <p:nvPicPr>
          <p:cNvPr id="13" name="Picture 12">
            <a:extLst>
              <a:ext uri="{FF2B5EF4-FFF2-40B4-BE49-F238E27FC236}">
                <a16:creationId xmlns:a16="http://schemas.microsoft.com/office/drawing/2014/main" id="{10D1D6F9-F85C-CF64-1679-049E0CE1DF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6499" y="9038138"/>
            <a:ext cx="21272183" cy="1274874"/>
          </a:xfrm>
          <a:prstGeom prst="rect">
            <a:avLst/>
          </a:prstGeom>
        </p:spPr>
      </p:pic>
    </p:spTree>
    <p:extLst>
      <p:ext uri="{BB962C8B-B14F-4D97-AF65-F5344CB8AC3E}">
        <p14:creationId xmlns:p14="http://schemas.microsoft.com/office/powerpoint/2010/main" val="214615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B949-C90E-9588-688D-E70DEE2C87CC}"/>
              </a:ext>
            </a:extLst>
          </p:cNvPr>
          <p:cNvSpPr>
            <a:spLocks noGrp="1"/>
          </p:cNvSpPr>
          <p:nvPr>
            <p:ph type="title"/>
          </p:nvPr>
        </p:nvSpPr>
        <p:spPr>
          <a:xfrm>
            <a:off x="1057892" y="710108"/>
            <a:ext cx="21031200" cy="2651126"/>
          </a:xfrm>
        </p:spPr>
        <p:txBody>
          <a:bodyPr/>
          <a:lstStyle/>
          <a:p>
            <a:r>
              <a:rPr lang="en-US" b="1" dirty="0">
                <a:latin typeface="Helvetica" pitchFamily="2" charset="0"/>
              </a:rPr>
              <a:t>Results of Autoencoder	</a:t>
            </a:r>
          </a:p>
        </p:txBody>
      </p:sp>
      <p:pic>
        <p:nvPicPr>
          <p:cNvPr id="6" name="Picture 5" descr="A graph with blue and orange lines&#10;&#10;Description automatically generated">
            <a:extLst>
              <a:ext uri="{FF2B5EF4-FFF2-40B4-BE49-F238E27FC236}">
                <a16:creationId xmlns:a16="http://schemas.microsoft.com/office/drawing/2014/main" id="{C5265DF7-53D3-CDF6-4B6C-EF3F0D31D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892" y="3373512"/>
            <a:ext cx="7299547" cy="5171543"/>
          </a:xfrm>
          <a:prstGeom prst="rect">
            <a:avLst/>
          </a:prstGeom>
        </p:spPr>
      </p:pic>
      <p:pic>
        <p:nvPicPr>
          <p:cNvPr id="8" name="Picture 7" descr="A graph of a graph&#10;&#10;Description automatically generated">
            <a:extLst>
              <a:ext uri="{FF2B5EF4-FFF2-40B4-BE49-F238E27FC236}">
                <a16:creationId xmlns:a16="http://schemas.microsoft.com/office/drawing/2014/main" id="{D42A76A2-8586-BF3A-381D-E1BE6698B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67601" y="3373513"/>
            <a:ext cx="7299545" cy="5171542"/>
          </a:xfrm>
          <a:prstGeom prst="rect">
            <a:avLst/>
          </a:prstGeom>
        </p:spPr>
      </p:pic>
      <p:pic>
        <p:nvPicPr>
          <p:cNvPr id="10" name="Picture 9" descr="A diagram of a computer program&#10;&#10;Description automatically generated with medium confidence">
            <a:extLst>
              <a:ext uri="{FF2B5EF4-FFF2-40B4-BE49-F238E27FC236}">
                <a16:creationId xmlns:a16="http://schemas.microsoft.com/office/drawing/2014/main" id="{3AD1E846-D1AB-28FA-1F67-B3BFE6EB4C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80124" y="3356760"/>
            <a:ext cx="6848799" cy="5171542"/>
          </a:xfrm>
          <a:prstGeom prst="rect">
            <a:avLst/>
          </a:prstGeom>
        </p:spPr>
      </p:pic>
      <p:pic>
        <p:nvPicPr>
          <p:cNvPr id="12" name="Picture 11">
            <a:extLst>
              <a:ext uri="{FF2B5EF4-FFF2-40B4-BE49-F238E27FC236}">
                <a16:creationId xmlns:a16="http://schemas.microsoft.com/office/drawing/2014/main" id="{28FA6FCB-11D2-A915-FE23-3FB96D9E6D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7892" y="9623649"/>
            <a:ext cx="23099321" cy="1219642"/>
          </a:xfrm>
          <a:prstGeom prst="rect">
            <a:avLst/>
          </a:prstGeom>
        </p:spPr>
      </p:pic>
    </p:spTree>
    <p:extLst>
      <p:ext uri="{BB962C8B-B14F-4D97-AF65-F5344CB8AC3E}">
        <p14:creationId xmlns:p14="http://schemas.microsoft.com/office/powerpoint/2010/main" val="333235773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F2562-A467-BB52-7554-0F139EC4C9A3}"/>
              </a:ext>
            </a:extLst>
          </p:cNvPr>
          <p:cNvSpPr>
            <a:spLocks noGrp="1"/>
          </p:cNvSpPr>
          <p:nvPr>
            <p:ph type="title"/>
          </p:nvPr>
        </p:nvSpPr>
        <p:spPr>
          <a:xfrm>
            <a:off x="1206500" y="952500"/>
            <a:ext cx="21547174" cy="1435100"/>
          </a:xfrm>
        </p:spPr>
        <p:txBody>
          <a:bodyPr>
            <a:normAutofit/>
          </a:bodyPr>
          <a:lstStyle/>
          <a:p>
            <a:r>
              <a:rPr lang="en-US" b="1" dirty="0">
                <a:latin typeface="Helvetica" pitchFamily="2" charset="0"/>
              </a:rPr>
              <a:t>Conclusion</a:t>
            </a:r>
          </a:p>
        </p:txBody>
      </p:sp>
      <p:pic>
        <p:nvPicPr>
          <p:cNvPr id="6" name="Picture 5" descr="A graph of a comparison of a number of blue rectangular objects&#10;&#10;Description automatically generated">
            <a:extLst>
              <a:ext uri="{FF2B5EF4-FFF2-40B4-BE49-F238E27FC236}">
                <a16:creationId xmlns:a16="http://schemas.microsoft.com/office/drawing/2014/main" id="{1B09C9FA-C856-FAA0-DB6E-BAA5827B4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6500" y="4846835"/>
            <a:ext cx="9781715" cy="7992000"/>
          </a:xfrm>
          <a:prstGeom prst="rect">
            <a:avLst/>
          </a:prstGeom>
        </p:spPr>
      </p:pic>
      <p:pic>
        <p:nvPicPr>
          <p:cNvPr id="8" name="Picture 7" descr="A graph of a comparison of classifiers&#10;&#10;Description automatically generated">
            <a:extLst>
              <a:ext uri="{FF2B5EF4-FFF2-40B4-BE49-F238E27FC236}">
                <a16:creationId xmlns:a16="http://schemas.microsoft.com/office/drawing/2014/main" id="{5E459898-3FF5-2A50-B944-9F51D1DC4A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04502" y="4846835"/>
            <a:ext cx="9781715" cy="7992000"/>
          </a:xfrm>
          <a:prstGeom prst="rect">
            <a:avLst/>
          </a:prstGeom>
        </p:spPr>
      </p:pic>
      <p:sp>
        <p:nvSpPr>
          <p:cNvPr id="12" name="TextBox 11">
            <a:extLst>
              <a:ext uri="{FF2B5EF4-FFF2-40B4-BE49-F238E27FC236}">
                <a16:creationId xmlns:a16="http://schemas.microsoft.com/office/drawing/2014/main" id="{8E9E2242-2C49-70C1-F898-3FE30CD3923A}"/>
              </a:ext>
            </a:extLst>
          </p:cNvPr>
          <p:cNvSpPr txBox="1"/>
          <p:nvPr/>
        </p:nvSpPr>
        <p:spPr>
          <a:xfrm>
            <a:off x="1206500" y="2387600"/>
            <a:ext cx="21979717" cy="19107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l" defTabSz="2438338" rtl="0" fontAlgn="auto" latinLnBrk="0" hangingPunct="0">
              <a:lnSpc>
                <a:spcPct val="100000"/>
              </a:lnSpc>
              <a:spcBef>
                <a:spcPts val="4500"/>
              </a:spcBef>
              <a:spcAft>
                <a:spcPts val="0"/>
              </a:spcAft>
              <a:buClrTx/>
              <a:buSzTx/>
              <a:buFontTx/>
              <a:buNone/>
              <a:tabLst/>
            </a:pPr>
            <a:r>
              <a:rPr lang="en-US" sz="4000" dirty="0">
                <a:latin typeface="Helvetica" pitchFamily="2" charset="0"/>
              </a:rPr>
              <a:t>The accuracy of Multi-layer perceptron and Autoencoder has been improved for the Network Intrusion Detection System (NIDS).</a:t>
            </a:r>
            <a:endParaRPr kumimoji="0" lang="en-US" sz="4000" b="0" i="0" u="none" strike="noStrike" cap="none" spc="0" normalizeH="0" baseline="0" dirty="0">
              <a:ln>
                <a:noFill/>
              </a:ln>
              <a:solidFill>
                <a:srgbClr val="FFFFFF"/>
              </a:solidFill>
              <a:effectLst/>
              <a:uFillTx/>
              <a:latin typeface="Helvetica" pitchFamily="2" charset="0"/>
              <a:sym typeface="Helvetica Neue"/>
            </a:endParaRPr>
          </a:p>
        </p:txBody>
      </p:sp>
    </p:spTree>
    <p:extLst>
      <p:ext uri="{BB962C8B-B14F-4D97-AF65-F5344CB8AC3E}">
        <p14:creationId xmlns:p14="http://schemas.microsoft.com/office/powerpoint/2010/main" val="3217176589"/>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2653D-9EC0-2BBA-7F50-4AB3940B46E8}"/>
              </a:ext>
            </a:extLst>
          </p:cNvPr>
          <p:cNvSpPr>
            <a:spLocks noGrp="1"/>
          </p:cNvSpPr>
          <p:nvPr>
            <p:ph type="title"/>
          </p:nvPr>
        </p:nvSpPr>
        <p:spPr>
          <a:xfrm>
            <a:off x="1206500" y="952500"/>
            <a:ext cx="21568440" cy="1435100"/>
          </a:xfrm>
        </p:spPr>
        <p:txBody>
          <a:bodyPr>
            <a:normAutofit/>
          </a:bodyPr>
          <a:lstStyle/>
          <a:p>
            <a:r>
              <a:rPr lang="en-US" b="1" dirty="0">
                <a:latin typeface="Helvetica" pitchFamily="2" charset="0"/>
              </a:rPr>
              <a:t>Future Scope</a:t>
            </a:r>
          </a:p>
        </p:txBody>
      </p:sp>
      <p:sp>
        <p:nvSpPr>
          <p:cNvPr id="4" name="Text Placeholder 3">
            <a:extLst>
              <a:ext uri="{FF2B5EF4-FFF2-40B4-BE49-F238E27FC236}">
                <a16:creationId xmlns:a16="http://schemas.microsoft.com/office/drawing/2014/main" id="{59E2F953-42CA-E3B5-68B6-4F29FE5153EC}"/>
              </a:ext>
            </a:extLst>
          </p:cNvPr>
          <p:cNvSpPr>
            <a:spLocks noGrp="1"/>
          </p:cNvSpPr>
          <p:nvPr>
            <p:ph type="body" sz="half" idx="1"/>
          </p:nvPr>
        </p:nvSpPr>
        <p:spPr>
          <a:xfrm>
            <a:off x="1206500" y="2595784"/>
            <a:ext cx="21568440" cy="10116916"/>
          </a:xfrm>
        </p:spPr>
        <p:txBody>
          <a:bodyPr/>
          <a:lstStyle/>
          <a:p>
            <a:r>
              <a:rPr lang="en-US" dirty="0">
                <a:latin typeface="Helvetica" pitchFamily="2" charset="0"/>
              </a:rPr>
              <a:t>To implement more Deep Learning models and improve the accuracies of the models.</a:t>
            </a:r>
          </a:p>
          <a:p>
            <a:r>
              <a:rPr lang="en-US" dirty="0">
                <a:latin typeface="Helvetica" pitchFamily="2" charset="0"/>
              </a:rPr>
              <a:t>To implement the classifiers on other datasets.</a:t>
            </a:r>
          </a:p>
          <a:p>
            <a:r>
              <a:rPr lang="en-US" dirty="0">
                <a:latin typeface="Helvetica" pitchFamily="2" charset="0"/>
              </a:rPr>
              <a:t>To implement on real time network traffic.</a:t>
            </a:r>
          </a:p>
          <a:p>
            <a:endParaRPr lang="en-US" dirty="0">
              <a:latin typeface="Helvetica" pitchFamily="2" charset="0"/>
            </a:endParaRPr>
          </a:p>
        </p:txBody>
      </p:sp>
    </p:spTree>
    <p:extLst>
      <p:ext uri="{BB962C8B-B14F-4D97-AF65-F5344CB8AC3E}">
        <p14:creationId xmlns:p14="http://schemas.microsoft.com/office/powerpoint/2010/main" val="53005911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7929D-179B-F2B2-37F8-D6C809DEA246}"/>
              </a:ext>
            </a:extLst>
          </p:cNvPr>
          <p:cNvSpPr>
            <a:spLocks noGrp="1"/>
          </p:cNvSpPr>
          <p:nvPr>
            <p:ph type="title"/>
          </p:nvPr>
        </p:nvSpPr>
        <p:spPr>
          <a:xfrm>
            <a:off x="1206500" y="952500"/>
            <a:ext cx="21958300" cy="1435100"/>
          </a:xfrm>
        </p:spPr>
        <p:txBody>
          <a:bodyPr>
            <a:normAutofit/>
          </a:bodyPr>
          <a:lstStyle/>
          <a:p>
            <a:r>
              <a:rPr lang="en-US" b="1" dirty="0">
                <a:latin typeface="Helvetica" pitchFamily="2" charset="0"/>
              </a:rPr>
              <a:t>References</a:t>
            </a:r>
          </a:p>
        </p:txBody>
      </p:sp>
      <p:sp>
        <p:nvSpPr>
          <p:cNvPr id="7" name="TextBox 6">
            <a:extLst>
              <a:ext uri="{FF2B5EF4-FFF2-40B4-BE49-F238E27FC236}">
                <a16:creationId xmlns:a16="http://schemas.microsoft.com/office/drawing/2014/main" id="{18B89A9B-1E67-170A-4F23-466B508B764D}"/>
              </a:ext>
            </a:extLst>
          </p:cNvPr>
          <p:cNvSpPr txBox="1"/>
          <p:nvPr/>
        </p:nvSpPr>
        <p:spPr>
          <a:xfrm>
            <a:off x="1206500" y="2458870"/>
            <a:ext cx="21958300" cy="85972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14350" lvl="0" indent="-514350" algn="just">
              <a:lnSpc>
                <a:spcPct val="115000"/>
              </a:lnSpc>
              <a:buSzPct val="120000"/>
              <a:buFont typeface="Arial" panose="020B0604020202020204" pitchFamily="34" charset="0"/>
              <a:buChar char="•"/>
            </a:pPr>
            <a:r>
              <a:rPr lang="en-US" sz="4000" spc="-10" dirty="0">
                <a:effectLst/>
                <a:latin typeface="Helvetica" pitchFamily="2" charset="0"/>
                <a:ea typeface="Times New Roman" panose="02020603050405020304" pitchFamily="18" charset="0"/>
              </a:rPr>
              <a:t>S. Al-</a:t>
            </a:r>
            <a:r>
              <a:rPr lang="en-US" sz="4000" spc="-10" dirty="0" err="1">
                <a:effectLst/>
                <a:latin typeface="Helvetica" pitchFamily="2" charset="0"/>
                <a:ea typeface="Times New Roman" panose="02020603050405020304" pitchFamily="18" charset="0"/>
              </a:rPr>
              <a:t>Emadi</a:t>
            </a:r>
            <a:r>
              <a:rPr lang="en-US" sz="4000" spc="-10" dirty="0">
                <a:effectLst/>
                <a:latin typeface="Helvetica" pitchFamily="2" charset="0"/>
                <a:ea typeface="Times New Roman" panose="02020603050405020304" pitchFamily="18" charset="0"/>
              </a:rPr>
              <a:t>, A. Al-</a:t>
            </a:r>
            <a:r>
              <a:rPr lang="en-US" sz="4000" spc="-10" dirty="0" err="1">
                <a:effectLst/>
                <a:latin typeface="Helvetica" pitchFamily="2" charset="0"/>
                <a:ea typeface="Times New Roman" panose="02020603050405020304" pitchFamily="18" charset="0"/>
              </a:rPr>
              <a:t>Mohannadi</a:t>
            </a:r>
            <a:r>
              <a:rPr lang="en-US" sz="4000" spc="-10" dirty="0">
                <a:effectLst/>
                <a:latin typeface="Helvetica" pitchFamily="2" charset="0"/>
                <a:ea typeface="Times New Roman" panose="02020603050405020304" pitchFamily="18" charset="0"/>
              </a:rPr>
              <a:t> and F. Al-</a:t>
            </a:r>
            <a:r>
              <a:rPr lang="en-US" sz="4000" spc="-10" dirty="0" err="1">
                <a:effectLst/>
                <a:latin typeface="Helvetica" pitchFamily="2" charset="0"/>
                <a:ea typeface="Times New Roman" panose="02020603050405020304" pitchFamily="18" charset="0"/>
              </a:rPr>
              <a:t>Senaid</a:t>
            </a:r>
            <a:r>
              <a:rPr lang="en-US" sz="4000" spc="-10" dirty="0">
                <a:effectLst/>
                <a:latin typeface="Helvetica" pitchFamily="2" charset="0"/>
                <a:ea typeface="Times New Roman" panose="02020603050405020304" pitchFamily="18" charset="0"/>
              </a:rPr>
              <a:t>, "Using Deep Learning Techniques for Network Intrusion Detection," </a:t>
            </a:r>
            <a:r>
              <a:rPr lang="en-US" sz="4000" i="1" spc="-10" dirty="0">
                <a:effectLst/>
                <a:latin typeface="Helvetica" pitchFamily="2" charset="0"/>
                <a:ea typeface="Times New Roman" panose="02020603050405020304" pitchFamily="18" charset="0"/>
              </a:rPr>
              <a:t>2020 IEEE International Conference on Informatics, IoT, and Enabling Technologies (</a:t>
            </a:r>
            <a:r>
              <a:rPr lang="en-US" sz="4000" i="1" spc="-10" dirty="0" err="1">
                <a:effectLst/>
                <a:latin typeface="Helvetica" pitchFamily="2" charset="0"/>
                <a:ea typeface="Times New Roman" panose="02020603050405020304" pitchFamily="18" charset="0"/>
              </a:rPr>
              <a:t>ICIoT</a:t>
            </a:r>
            <a:r>
              <a:rPr lang="en-US" sz="4000" i="1" spc="-10" dirty="0">
                <a:effectLst/>
                <a:latin typeface="Helvetica" pitchFamily="2" charset="0"/>
                <a:ea typeface="Times New Roman" panose="02020603050405020304" pitchFamily="18" charset="0"/>
              </a:rPr>
              <a:t>)</a:t>
            </a:r>
            <a:r>
              <a:rPr lang="en-US" sz="4000" spc="-10" dirty="0">
                <a:effectLst/>
                <a:latin typeface="Helvetica" pitchFamily="2" charset="0"/>
                <a:ea typeface="Times New Roman" panose="02020603050405020304" pitchFamily="18" charset="0"/>
              </a:rPr>
              <a:t>, Doha, Qatar, 2020, pp. 171-176.</a:t>
            </a:r>
          </a:p>
          <a:p>
            <a:pPr lvl="0" algn="just">
              <a:lnSpc>
                <a:spcPct val="115000"/>
              </a:lnSpc>
              <a:buSzPct val="120000"/>
            </a:pPr>
            <a:endParaRPr lang="en-IN" sz="4000" spc="-10" dirty="0">
              <a:effectLst/>
              <a:latin typeface="Helvetica" pitchFamily="2" charset="0"/>
              <a:ea typeface="Times New Roman" panose="02020603050405020304" pitchFamily="18" charset="0"/>
            </a:endParaRPr>
          </a:p>
          <a:p>
            <a:pPr marL="457200" lvl="0" indent="-457200" algn="just">
              <a:lnSpc>
                <a:spcPct val="115000"/>
              </a:lnSpc>
              <a:buSzPct val="120000"/>
              <a:buFont typeface="Arial" panose="020B0604020202020204" pitchFamily="34" charset="0"/>
              <a:buChar char="•"/>
            </a:pPr>
            <a:r>
              <a:rPr lang="en-US" sz="4000" spc="-10" dirty="0">
                <a:effectLst/>
                <a:latin typeface="Helvetica" pitchFamily="2" charset="0"/>
                <a:ea typeface="Times New Roman" panose="02020603050405020304" pitchFamily="18" charset="0"/>
              </a:rPr>
              <a:t>C. Yin, Y. Zhu, J. Fei and X. He, "A Deep Learning Approach for Intrusion Detection Using Recurrent Neural Networks," in </a:t>
            </a:r>
            <a:r>
              <a:rPr lang="en-US" sz="4000" i="1" spc="-10" dirty="0">
                <a:effectLst/>
                <a:latin typeface="Helvetica" pitchFamily="2" charset="0"/>
                <a:ea typeface="Times New Roman" panose="02020603050405020304" pitchFamily="18" charset="0"/>
              </a:rPr>
              <a:t>IEEE Access</a:t>
            </a:r>
            <a:r>
              <a:rPr lang="en-US" sz="4000" spc="-10" dirty="0">
                <a:effectLst/>
                <a:latin typeface="Helvetica" pitchFamily="2" charset="0"/>
                <a:ea typeface="Times New Roman" panose="02020603050405020304" pitchFamily="18" charset="0"/>
              </a:rPr>
              <a:t>, vol. 5, pp. 21954-21961, 2017.</a:t>
            </a:r>
          </a:p>
          <a:p>
            <a:pPr lvl="0" algn="just">
              <a:lnSpc>
                <a:spcPct val="115000"/>
              </a:lnSpc>
              <a:buSzPct val="120000"/>
            </a:pPr>
            <a:endParaRPr lang="en-IN" sz="4000" spc="-10" dirty="0">
              <a:effectLst/>
              <a:latin typeface="Helvetica" pitchFamily="2" charset="0"/>
              <a:ea typeface="Times New Roman" panose="02020603050405020304" pitchFamily="18" charset="0"/>
            </a:endParaRPr>
          </a:p>
          <a:p>
            <a:pPr marL="457200" lvl="0" indent="-457200" algn="just">
              <a:lnSpc>
                <a:spcPct val="115000"/>
              </a:lnSpc>
              <a:buSzPct val="120000"/>
              <a:buFont typeface="Arial" panose="020B0604020202020204" pitchFamily="34" charset="0"/>
              <a:buChar char="•"/>
            </a:pPr>
            <a:r>
              <a:rPr lang="en-US" sz="4000" spc="-10" dirty="0">
                <a:effectLst/>
                <a:latin typeface="Helvetica" pitchFamily="2" charset="0"/>
                <a:ea typeface="Times New Roman" panose="02020603050405020304" pitchFamily="18" charset="0"/>
              </a:rPr>
              <a:t>Riyaz, B., Ganapathy, S. A deep learning approach for effective intrusion detection in wireless networks using CNN. </a:t>
            </a:r>
            <a:r>
              <a:rPr lang="en-US" sz="4000" i="1" spc="-10" dirty="0">
                <a:effectLst/>
                <a:latin typeface="Helvetica" pitchFamily="2" charset="0"/>
                <a:ea typeface="Times New Roman" panose="02020603050405020304" pitchFamily="18" charset="0"/>
              </a:rPr>
              <a:t>Soft </a:t>
            </a:r>
            <a:r>
              <a:rPr lang="en-US" sz="4000" i="1" spc="-10" dirty="0" err="1">
                <a:effectLst/>
                <a:latin typeface="Helvetica" pitchFamily="2" charset="0"/>
                <a:ea typeface="Times New Roman" panose="02020603050405020304" pitchFamily="18" charset="0"/>
              </a:rPr>
              <a:t>Comput</a:t>
            </a:r>
            <a:r>
              <a:rPr lang="en-US" sz="4000" spc="-10" dirty="0">
                <a:effectLst/>
                <a:latin typeface="Helvetica" pitchFamily="2" charset="0"/>
                <a:ea typeface="Times New Roman" panose="02020603050405020304" pitchFamily="18" charset="0"/>
              </a:rPr>
              <a:t> </a:t>
            </a:r>
            <a:r>
              <a:rPr lang="en-US" sz="4000" b="1" spc="-10" dirty="0">
                <a:effectLst/>
                <a:latin typeface="Helvetica" pitchFamily="2" charset="0"/>
                <a:ea typeface="Times New Roman" panose="02020603050405020304" pitchFamily="18" charset="0"/>
              </a:rPr>
              <a:t>24</a:t>
            </a:r>
            <a:r>
              <a:rPr lang="en-US" sz="4000" spc="-10" dirty="0">
                <a:effectLst/>
                <a:latin typeface="Helvetica" pitchFamily="2" charset="0"/>
                <a:ea typeface="Times New Roman" panose="02020603050405020304" pitchFamily="18" charset="0"/>
              </a:rPr>
              <a:t>, 17265–17278 (2020).</a:t>
            </a:r>
          </a:p>
          <a:p>
            <a:pPr lvl="0" algn="just">
              <a:lnSpc>
                <a:spcPct val="115000"/>
              </a:lnSpc>
              <a:buSzPct val="120000"/>
            </a:pPr>
            <a:endParaRPr lang="en-IN" sz="4000" spc="-10" dirty="0">
              <a:effectLst/>
              <a:latin typeface="Helvetica" pitchFamily="2" charset="0"/>
              <a:ea typeface="Times New Roman" panose="02020603050405020304" pitchFamily="18" charset="0"/>
            </a:endParaRPr>
          </a:p>
          <a:p>
            <a:pPr marL="457200" lvl="0" indent="-457200" algn="just">
              <a:lnSpc>
                <a:spcPct val="115000"/>
              </a:lnSpc>
              <a:buSzPct val="120000"/>
              <a:buFont typeface="Arial" panose="020B0604020202020204" pitchFamily="34" charset="0"/>
              <a:buChar char="•"/>
            </a:pPr>
            <a:r>
              <a:rPr lang="en-US" sz="4000" spc="-10" dirty="0">
                <a:effectLst/>
                <a:latin typeface="Helvetica" pitchFamily="2" charset="0"/>
                <a:ea typeface="Times New Roman" panose="02020603050405020304" pitchFamily="18" charset="0"/>
              </a:rPr>
              <a:t>Yin, C., Zhu, Y., Liu, S. </a:t>
            </a:r>
            <a:r>
              <a:rPr lang="en-US" sz="4000" i="1" spc="-10" dirty="0">
                <a:effectLst/>
                <a:latin typeface="Helvetica" pitchFamily="2" charset="0"/>
                <a:ea typeface="Times New Roman" panose="02020603050405020304" pitchFamily="18" charset="0"/>
              </a:rPr>
              <a:t>et al.</a:t>
            </a:r>
            <a:r>
              <a:rPr lang="en-US" sz="4000" spc="-10" dirty="0">
                <a:effectLst/>
                <a:latin typeface="Helvetica" pitchFamily="2" charset="0"/>
                <a:ea typeface="Times New Roman" panose="02020603050405020304" pitchFamily="18" charset="0"/>
              </a:rPr>
              <a:t> Enhancing network intrusion detection classifiers using supervised adversarial training. </a:t>
            </a:r>
            <a:r>
              <a:rPr lang="en-US" sz="4000" i="1" spc="-10" dirty="0">
                <a:effectLst/>
                <a:latin typeface="Helvetica" pitchFamily="2" charset="0"/>
                <a:ea typeface="Times New Roman" panose="02020603050405020304" pitchFamily="18" charset="0"/>
              </a:rPr>
              <a:t>J </a:t>
            </a:r>
            <a:r>
              <a:rPr lang="en-US" sz="4000" i="1" spc="-10" dirty="0" err="1">
                <a:effectLst/>
                <a:latin typeface="Helvetica" pitchFamily="2" charset="0"/>
                <a:ea typeface="Times New Roman" panose="02020603050405020304" pitchFamily="18" charset="0"/>
              </a:rPr>
              <a:t>Supercomput</a:t>
            </a:r>
            <a:r>
              <a:rPr lang="en-US" sz="4000" spc="-10" dirty="0">
                <a:effectLst/>
                <a:latin typeface="Helvetica" pitchFamily="2" charset="0"/>
                <a:ea typeface="Times New Roman" panose="02020603050405020304" pitchFamily="18" charset="0"/>
              </a:rPr>
              <a:t> </a:t>
            </a:r>
            <a:r>
              <a:rPr lang="en-US" sz="4000" b="1" spc="-10" dirty="0">
                <a:effectLst/>
                <a:latin typeface="Helvetica" pitchFamily="2" charset="0"/>
                <a:ea typeface="Times New Roman" panose="02020603050405020304" pitchFamily="18" charset="0"/>
              </a:rPr>
              <a:t>76</a:t>
            </a:r>
            <a:r>
              <a:rPr lang="en-US" sz="4000" spc="-10" dirty="0">
                <a:effectLst/>
                <a:latin typeface="Helvetica" pitchFamily="2" charset="0"/>
                <a:ea typeface="Times New Roman" panose="02020603050405020304" pitchFamily="18" charset="0"/>
              </a:rPr>
              <a:t>, 6690–6719 (2020).</a:t>
            </a:r>
            <a:endParaRPr lang="en-IN" sz="4000" spc="-10" dirty="0">
              <a:effectLst/>
              <a:latin typeface="Helvetica" pitchFamily="2" charset="0"/>
              <a:ea typeface="Times New Roman" panose="02020603050405020304" pitchFamily="18" charset="0"/>
            </a:endParaRPr>
          </a:p>
        </p:txBody>
      </p:sp>
    </p:spTree>
    <p:extLst>
      <p:ext uri="{BB962C8B-B14F-4D97-AF65-F5344CB8AC3E}">
        <p14:creationId xmlns:p14="http://schemas.microsoft.com/office/powerpoint/2010/main" val="418829067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6E92-25BB-5E20-D131-D43DE3EDEC5D}"/>
              </a:ext>
            </a:extLst>
          </p:cNvPr>
          <p:cNvSpPr>
            <a:spLocks noGrp="1"/>
          </p:cNvSpPr>
          <p:nvPr>
            <p:ph type="title"/>
          </p:nvPr>
        </p:nvSpPr>
        <p:spPr>
          <a:xfrm>
            <a:off x="1206500" y="952500"/>
            <a:ext cx="21965734" cy="1435100"/>
          </a:xfrm>
        </p:spPr>
        <p:txBody>
          <a:bodyPr>
            <a:normAutofit/>
          </a:bodyPr>
          <a:lstStyle/>
          <a:p>
            <a:r>
              <a:rPr lang="en-US" b="1" dirty="0">
                <a:latin typeface="Helvetica" pitchFamily="2" charset="0"/>
              </a:rPr>
              <a:t>References</a:t>
            </a:r>
          </a:p>
        </p:txBody>
      </p:sp>
      <p:sp>
        <p:nvSpPr>
          <p:cNvPr id="6" name="TextBox 5">
            <a:extLst>
              <a:ext uri="{FF2B5EF4-FFF2-40B4-BE49-F238E27FC236}">
                <a16:creationId xmlns:a16="http://schemas.microsoft.com/office/drawing/2014/main" id="{B8B2523E-BED5-18C4-0A57-423FF1E22FBC}"/>
              </a:ext>
            </a:extLst>
          </p:cNvPr>
          <p:cNvSpPr txBox="1"/>
          <p:nvPr/>
        </p:nvSpPr>
        <p:spPr>
          <a:xfrm>
            <a:off x="1206500" y="2387600"/>
            <a:ext cx="21958300" cy="10720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571500" lvl="0" indent="-571500" algn="just">
              <a:lnSpc>
                <a:spcPct val="115000"/>
              </a:lnSpc>
              <a:buSzPct val="125000"/>
              <a:buFont typeface="Arial" panose="020B0604020202020204" pitchFamily="34" charset="0"/>
              <a:buChar char="•"/>
            </a:pPr>
            <a:r>
              <a:rPr lang="en-US" sz="4000" spc="-10" dirty="0">
                <a:effectLst/>
                <a:latin typeface="Helvetica" pitchFamily="2" charset="0"/>
                <a:ea typeface="Times New Roman" panose="02020603050405020304" pitchFamily="18" charset="0"/>
              </a:rPr>
              <a:t>P. </a:t>
            </a:r>
            <a:r>
              <a:rPr lang="en-US" sz="4000" spc="-10" dirty="0" err="1">
                <a:effectLst/>
                <a:latin typeface="Helvetica" pitchFamily="2" charset="0"/>
                <a:ea typeface="Times New Roman" panose="02020603050405020304" pitchFamily="18" charset="0"/>
              </a:rPr>
              <a:t>Toupas</a:t>
            </a:r>
            <a:r>
              <a:rPr lang="en-US" sz="4000" spc="-10" dirty="0">
                <a:effectLst/>
                <a:latin typeface="Helvetica" pitchFamily="2" charset="0"/>
                <a:ea typeface="Times New Roman" panose="02020603050405020304" pitchFamily="18" charset="0"/>
              </a:rPr>
              <a:t>, D. </a:t>
            </a:r>
            <a:r>
              <a:rPr lang="en-US" sz="4000" spc="-10" dirty="0" err="1">
                <a:effectLst/>
                <a:latin typeface="Helvetica" pitchFamily="2" charset="0"/>
                <a:ea typeface="Times New Roman" panose="02020603050405020304" pitchFamily="18" charset="0"/>
              </a:rPr>
              <a:t>Chamou</a:t>
            </a:r>
            <a:r>
              <a:rPr lang="en-US" sz="4000" spc="-10" dirty="0">
                <a:effectLst/>
                <a:latin typeface="Helvetica" pitchFamily="2" charset="0"/>
                <a:ea typeface="Times New Roman" panose="02020603050405020304" pitchFamily="18" charset="0"/>
              </a:rPr>
              <a:t>, K. M. </a:t>
            </a:r>
            <a:r>
              <a:rPr lang="en-US" sz="4000" spc="-10" dirty="0" err="1">
                <a:effectLst/>
                <a:latin typeface="Helvetica" pitchFamily="2" charset="0"/>
                <a:ea typeface="Times New Roman" panose="02020603050405020304" pitchFamily="18" charset="0"/>
              </a:rPr>
              <a:t>Giannoutakis</a:t>
            </a:r>
            <a:r>
              <a:rPr lang="en-US" sz="4000" spc="-10" dirty="0">
                <a:effectLst/>
                <a:latin typeface="Helvetica" pitchFamily="2" charset="0"/>
                <a:ea typeface="Times New Roman" panose="02020603050405020304" pitchFamily="18" charset="0"/>
              </a:rPr>
              <a:t>, A. </a:t>
            </a:r>
            <a:r>
              <a:rPr lang="en-US" sz="4000" spc="-10" dirty="0" err="1">
                <a:effectLst/>
                <a:latin typeface="Helvetica" pitchFamily="2" charset="0"/>
                <a:ea typeface="Times New Roman" panose="02020603050405020304" pitchFamily="18" charset="0"/>
              </a:rPr>
              <a:t>Drosou</a:t>
            </a:r>
            <a:r>
              <a:rPr lang="en-US" sz="4000" spc="-10" dirty="0">
                <a:effectLst/>
                <a:latin typeface="Helvetica" pitchFamily="2" charset="0"/>
                <a:ea typeface="Times New Roman" panose="02020603050405020304" pitchFamily="18" charset="0"/>
              </a:rPr>
              <a:t> and D. </a:t>
            </a:r>
            <a:r>
              <a:rPr lang="en-US" sz="4000" spc="-10" dirty="0" err="1">
                <a:effectLst/>
                <a:latin typeface="Helvetica" pitchFamily="2" charset="0"/>
                <a:ea typeface="Times New Roman" panose="02020603050405020304" pitchFamily="18" charset="0"/>
              </a:rPr>
              <a:t>Tzovaras</a:t>
            </a:r>
            <a:r>
              <a:rPr lang="en-US" sz="4000" spc="-10" dirty="0">
                <a:effectLst/>
                <a:latin typeface="Helvetica" pitchFamily="2" charset="0"/>
                <a:ea typeface="Times New Roman" panose="02020603050405020304" pitchFamily="18" charset="0"/>
              </a:rPr>
              <a:t>, "An Intrusion Detection System for Multi-class Classification Based on Deep Neural Networks," </a:t>
            </a:r>
            <a:r>
              <a:rPr lang="en-US" sz="4000" i="1" spc="-10" dirty="0">
                <a:effectLst/>
                <a:latin typeface="Helvetica" pitchFamily="2" charset="0"/>
                <a:ea typeface="Times New Roman" panose="02020603050405020304" pitchFamily="18" charset="0"/>
              </a:rPr>
              <a:t>2019 18th IEEE International Conference On Machine Learning And Applications (ICMLA)</a:t>
            </a:r>
            <a:r>
              <a:rPr lang="en-US" sz="4000" spc="-10" dirty="0">
                <a:effectLst/>
                <a:latin typeface="Helvetica" pitchFamily="2" charset="0"/>
                <a:ea typeface="Times New Roman" panose="02020603050405020304" pitchFamily="18" charset="0"/>
              </a:rPr>
              <a:t>, Boca Raton, FL, USA, 2019, pp. 1253-1258.</a:t>
            </a:r>
          </a:p>
          <a:p>
            <a:pPr lvl="0" algn="just">
              <a:lnSpc>
                <a:spcPct val="115000"/>
              </a:lnSpc>
              <a:buSzPct val="125000"/>
            </a:pPr>
            <a:endParaRPr lang="en-IN" sz="4000" spc="-10" dirty="0">
              <a:effectLst/>
              <a:latin typeface="Helvetica" pitchFamily="2" charset="0"/>
              <a:ea typeface="Times New Roman" panose="02020603050405020304" pitchFamily="18" charset="0"/>
            </a:endParaRPr>
          </a:p>
          <a:p>
            <a:pPr marL="571500" lvl="0" indent="-571500" algn="just">
              <a:lnSpc>
                <a:spcPct val="115000"/>
              </a:lnSpc>
              <a:buSzPct val="125000"/>
              <a:buFont typeface="Arial" panose="020B0604020202020204" pitchFamily="34" charset="0"/>
              <a:buChar char="•"/>
            </a:pPr>
            <a:r>
              <a:rPr lang="en-US" sz="4000" spc="-10" dirty="0">
                <a:effectLst/>
                <a:latin typeface="Helvetica" pitchFamily="2" charset="0"/>
                <a:ea typeface="Times New Roman" panose="02020603050405020304" pitchFamily="18" charset="0"/>
              </a:rPr>
              <a:t>Ahmad Z, Shahid Khan A, Wai </a:t>
            </a:r>
            <a:r>
              <a:rPr lang="en-US" sz="4000" spc="-10" dirty="0" err="1">
                <a:effectLst/>
                <a:latin typeface="Helvetica" pitchFamily="2" charset="0"/>
                <a:ea typeface="Times New Roman" panose="02020603050405020304" pitchFamily="18" charset="0"/>
              </a:rPr>
              <a:t>Shiang</a:t>
            </a:r>
            <a:r>
              <a:rPr lang="en-US" sz="4000" spc="-10" dirty="0">
                <a:effectLst/>
                <a:latin typeface="Helvetica" pitchFamily="2" charset="0"/>
                <a:ea typeface="Times New Roman" panose="02020603050405020304" pitchFamily="18" charset="0"/>
              </a:rPr>
              <a:t> C, Abdullah J, Ahmad F. Network intrusion detection system: A systematic study of machine learning and deep learning approaches. </a:t>
            </a:r>
            <a:r>
              <a:rPr lang="en-US" sz="4000" i="1" spc="-10" dirty="0">
                <a:effectLst/>
                <a:latin typeface="Helvetica" pitchFamily="2" charset="0"/>
                <a:ea typeface="Times New Roman" panose="02020603050405020304" pitchFamily="18" charset="0"/>
              </a:rPr>
              <a:t>Trans Emerging Tel Tech</a:t>
            </a:r>
            <a:r>
              <a:rPr lang="en-US" sz="4000" spc="-10" dirty="0">
                <a:effectLst/>
                <a:latin typeface="Helvetica" pitchFamily="2" charset="0"/>
                <a:ea typeface="Times New Roman" panose="02020603050405020304" pitchFamily="18" charset="0"/>
              </a:rPr>
              <a:t>. 2021; 32: e4150.</a:t>
            </a:r>
          </a:p>
          <a:p>
            <a:pPr lvl="0" algn="just">
              <a:lnSpc>
                <a:spcPct val="115000"/>
              </a:lnSpc>
              <a:buSzPct val="125000"/>
            </a:pPr>
            <a:endParaRPr lang="en-IN" sz="4000" spc="-10" dirty="0">
              <a:effectLst/>
              <a:latin typeface="Helvetica" pitchFamily="2" charset="0"/>
              <a:ea typeface="Times New Roman" panose="02020603050405020304" pitchFamily="18" charset="0"/>
            </a:endParaRPr>
          </a:p>
          <a:p>
            <a:pPr marL="571500" lvl="0" indent="-571500" algn="just">
              <a:lnSpc>
                <a:spcPct val="115000"/>
              </a:lnSpc>
              <a:buSzPct val="125000"/>
              <a:buFont typeface="Arial" panose="020B0604020202020204" pitchFamily="34" charset="0"/>
              <a:buChar char="•"/>
            </a:pPr>
            <a:r>
              <a:rPr lang="en-US" sz="4000" spc="-10" dirty="0" err="1">
                <a:effectLst/>
                <a:latin typeface="Helvetica" pitchFamily="2" charset="0"/>
                <a:ea typeface="Times New Roman" panose="02020603050405020304" pitchFamily="18" charset="0"/>
              </a:rPr>
              <a:t>Lirim</a:t>
            </a:r>
            <a:r>
              <a:rPr lang="en-US" sz="4000" spc="-10" dirty="0">
                <a:effectLst/>
                <a:latin typeface="Helvetica" pitchFamily="2" charset="0"/>
                <a:ea typeface="Times New Roman" panose="02020603050405020304" pitchFamily="18" charset="0"/>
              </a:rPr>
              <a:t> </a:t>
            </a:r>
            <a:r>
              <a:rPr lang="en-US" sz="4000" spc="-10" dirty="0" err="1">
                <a:effectLst/>
                <a:latin typeface="Helvetica" pitchFamily="2" charset="0"/>
                <a:ea typeface="Times New Roman" panose="02020603050405020304" pitchFamily="18" charset="0"/>
              </a:rPr>
              <a:t>Ashiku</a:t>
            </a:r>
            <a:r>
              <a:rPr lang="en-US" sz="4000" spc="-10" dirty="0">
                <a:effectLst/>
                <a:latin typeface="Helvetica" pitchFamily="2" charset="0"/>
                <a:ea typeface="Times New Roman" panose="02020603050405020304" pitchFamily="18" charset="0"/>
              </a:rPr>
              <a:t>, </a:t>
            </a:r>
            <a:r>
              <a:rPr lang="en-US" sz="4000" spc="-10" dirty="0" err="1">
                <a:effectLst/>
                <a:latin typeface="Helvetica" pitchFamily="2" charset="0"/>
                <a:ea typeface="Times New Roman" panose="02020603050405020304" pitchFamily="18" charset="0"/>
              </a:rPr>
              <a:t>Cihan</a:t>
            </a:r>
            <a:r>
              <a:rPr lang="en-US" sz="4000" spc="-10" dirty="0">
                <a:effectLst/>
                <a:latin typeface="Helvetica" pitchFamily="2" charset="0"/>
                <a:ea typeface="Times New Roman" panose="02020603050405020304" pitchFamily="18" charset="0"/>
              </a:rPr>
              <a:t> </a:t>
            </a:r>
            <a:r>
              <a:rPr lang="en-US" sz="4000" spc="-10" dirty="0" err="1">
                <a:effectLst/>
                <a:latin typeface="Helvetica" pitchFamily="2" charset="0"/>
                <a:ea typeface="Times New Roman" panose="02020603050405020304" pitchFamily="18" charset="0"/>
              </a:rPr>
              <a:t>Dagli</a:t>
            </a:r>
            <a:r>
              <a:rPr lang="en-US" sz="4000" spc="-10" dirty="0">
                <a:effectLst/>
                <a:latin typeface="Helvetica" pitchFamily="2" charset="0"/>
                <a:ea typeface="Times New Roman" panose="02020603050405020304" pitchFamily="18" charset="0"/>
              </a:rPr>
              <a:t>, Network Intrusion Detection System using Deep Learning, Procedia Computer Science, Volume 185, 2021, Pages 239-247, ISSN 1877-0509.</a:t>
            </a:r>
          </a:p>
          <a:p>
            <a:pPr lvl="0" algn="just">
              <a:lnSpc>
                <a:spcPct val="115000"/>
              </a:lnSpc>
              <a:buSzPct val="125000"/>
            </a:pPr>
            <a:endParaRPr lang="en-IN" sz="4000" spc="-10" dirty="0">
              <a:effectLst/>
              <a:latin typeface="Helvetica" pitchFamily="2" charset="0"/>
              <a:ea typeface="Times New Roman" panose="02020603050405020304" pitchFamily="18" charset="0"/>
            </a:endParaRPr>
          </a:p>
          <a:p>
            <a:pPr marL="571500" lvl="0" indent="-571500" algn="just">
              <a:lnSpc>
                <a:spcPct val="115000"/>
              </a:lnSpc>
              <a:buSzPct val="125000"/>
              <a:buFont typeface="Arial" panose="020B0604020202020204" pitchFamily="34" charset="0"/>
              <a:buChar char="•"/>
            </a:pPr>
            <a:r>
              <a:rPr lang="en-US" sz="4000" spc="-10" dirty="0">
                <a:effectLst/>
                <a:latin typeface="Helvetica" pitchFamily="2" charset="0"/>
                <a:ea typeface="Times New Roman" panose="02020603050405020304" pitchFamily="18" charset="0"/>
              </a:rPr>
              <a:t>Panda, </a:t>
            </a:r>
            <a:r>
              <a:rPr lang="en-US" sz="4000" spc="-10" dirty="0" err="1">
                <a:effectLst/>
                <a:latin typeface="Helvetica" pitchFamily="2" charset="0"/>
                <a:ea typeface="Times New Roman" panose="02020603050405020304" pitchFamily="18" charset="0"/>
              </a:rPr>
              <a:t>Mrutyunjaya</a:t>
            </a:r>
            <a:r>
              <a:rPr lang="en-US" sz="4000" spc="-10" dirty="0">
                <a:effectLst/>
                <a:latin typeface="Helvetica" pitchFamily="2" charset="0"/>
                <a:ea typeface="Times New Roman" panose="02020603050405020304" pitchFamily="18" charset="0"/>
              </a:rPr>
              <a:t> &amp; Abraham, Ajith &amp; Das, </a:t>
            </a:r>
            <a:r>
              <a:rPr lang="en-US" sz="4000" spc="-10" dirty="0" err="1">
                <a:effectLst/>
                <a:latin typeface="Helvetica" pitchFamily="2" charset="0"/>
                <a:ea typeface="Times New Roman" panose="02020603050405020304" pitchFamily="18" charset="0"/>
              </a:rPr>
              <a:t>Swagatam</a:t>
            </a:r>
            <a:r>
              <a:rPr lang="en-US" sz="4000" spc="-10" dirty="0">
                <a:effectLst/>
                <a:latin typeface="Helvetica" pitchFamily="2" charset="0"/>
                <a:ea typeface="Times New Roman" panose="02020603050405020304" pitchFamily="18" charset="0"/>
              </a:rPr>
              <a:t> &amp; Patra, Manas. (2011). Network intrusion detection system: A machine learning approach. Intelligent Decision Technologies (IDT) Journal, IOS Press. 5. 347-356. 10.3233/IDT-2011-0117.</a:t>
            </a:r>
            <a:endParaRPr lang="en-IN" sz="4000" spc="-10" dirty="0">
              <a:effectLst/>
              <a:latin typeface="Helvetica" pitchFamily="2" charset="0"/>
              <a:ea typeface="Times New Roman" panose="02020603050405020304" pitchFamily="18" charset="0"/>
            </a:endParaRPr>
          </a:p>
        </p:txBody>
      </p:sp>
    </p:spTree>
    <p:extLst>
      <p:ext uri="{BB962C8B-B14F-4D97-AF65-F5344CB8AC3E}">
        <p14:creationId xmlns:p14="http://schemas.microsoft.com/office/powerpoint/2010/main" val="308028641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F53EF-4790-4B91-3D28-9A078E260EB5}"/>
              </a:ext>
            </a:extLst>
          </p:cNvPr>
          <p:cNvSpPr>
            <a:spLocks noGrp="1"/>
          </p:cNvSpPr>
          <p:nvPr>
            <p:ph type="title"/>
          </p:nvPr>
        </p:nvSpPr>
        <p:spPr>
          <a:xfrm>
            <a:off x="1212850" y="5422900"/>
            <a:ext cx="21958300" cy="1435100"/>
          </a:xfrm>
        </p:spPr>
        <p:txBody>
          <a:bodyPr>
            <a:normAutofit/>
          </a:bodyPr>
          <a:lstStyle/>
          <a:p>
            <a:pPr algn="ctr"/>
            <a:r>
              <a:rPr lang="en-US" dirty="0"/>
              <a:t>Thank You.</a:t>
            </a:r>
          </a:p>
        </p:txBody>
      </p:sp>
    </p:spTree>
    <p:extLst>
      <p:ext uri="{BB962C8B-B14F-4D97-AF65-F5344CB8AC3E}">
        <p14:creationId xmlns:p14="http://schemas.microsoft.com/office/powerpoint/2010/main" val="2766488700"/>
      </p:ext>
    </p:extLst>
  </p:cSld>
  <p:clrMapOvr>
    <a:masterClrMapping/>
  </p:clrMapOvr>
  <p:transition spd="me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3629</TotalTime>
  <Words>2018</Words>
  <Application>Microsoft Macintosh PowerPoint</Application>
  <PresentationFormat>Custom</PresentationFormat>
  <Paragraphs>113</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Helvetica</vt:lpstr>
      <vt:lpstr>Helvetica Neue</vt:lpstr>
      <vt:lpstr>Office Theme</vt:lpstr>
      <vt:lpstr>Network Intrusion Detection System using Deep Learning</vt:lpstr>
      <vt:lpstr>Introduction</vt:lpstr>
      <vt:lpstr>Types of Attacks</vt:lpstr>
      <vt:lpstr>Motivation</vt:lpstr>
      <vt:lpstr>PowerPoint Presentation</vt:lpstr>
      <vt:lpstr>PowerPoint Presentation</vt:lpstr>
      <vt:lpstr>Objectives</vt:lpstr>
      <vt:lpstr>Dataset: NSL-KDD</vt:lpstr>
      <vt:lpstr>PowerPoint Presentation</vt:lpstr>
      <vt:lpstr>Binary and Multi-class Classification of attacks</vt:lpstr>
      <vt:lpstr>Workflow</vt:lpstr>
      <vt:lpstr>Multi-Layer Perceptron</vt:lpstr>
      <vt:lpstr>PowerPoint Presentation</vt:lpstr>
      <vt:lpstr>Auto Encoders</vt:lpstr>
      <vt:lpstr>PowerPoint Presentation</vt:lpstr>
      <vt:lpstr>Results of Multi-Layer Perceptron</vt:lpstr>
      <vt:lpstr>Results of Multi-Layer Perceptron</vt:lpstr>
      <vt:lpstr>Results of Autoencoder </vt:lpstr>
      <vt:lpstr>Results of Autoencoder </vt:lpstr>
      <vt:lpstr>Conclusion</vt:lpstr>
      <vt:lpstr>Future Scope</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Intrusion Detection System using Deep Learning</dc:title>
  <cp:lastModifiedBy>KOLLI KARTHIK 20071A0433</cp:lastModifiedBy>
  <cp:revision>17</cp:revision>
  <dcterms:modified xsi:type="dcterms:W3CDTF">2024-04-06T06:37:19Z</dcterms:modified>
</cp:coreProperties>
</file>